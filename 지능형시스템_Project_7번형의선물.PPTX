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11" r:id="rId2"/>
    <p:sldId id="256" r:id="rId3"/>
    <p:sldId id="344" r:id="rId4"/>
    <p:sldId id="309" r:id="rId5"/>
    <p:sldId id="337" r:id="rId6"/>
    <p:sldId id="314" r:id="rId7"/>
    <p:sldId id="320" r:id="rId8"/>
    <p:sldId id="315" r:id="rId9"/>
    <p:sldId id="316" r:id="rId10"/>
    <p:sldId id="319" r:id="rId11"/>
    <p:sldId id="334" r:id="rId12"/>
    <p:sldId id="312" r:id="rId13"/>
    <p:sldId id="317" r:id="rId14"/>
    <p:sldId id="339" r:id="rId15"/>
    <p:sldId id="326" r:id="rId16"/>
    <p:sldId id="327" r:id="rId17"/>
    <p:sldId id="331" r:id="rId18"/>
    <p:sldId id="328" r:id="rId19"/>
    <p:sldId id="330" r:id="rId20"/>
    <p:sldId id="335" r:id="rId21"/>
    <p:sldId id="332" r:id="rId22"/>
    <p:sldId id="324" r:id="rId23"/>
    <p:sldId id="345" r:id="rId24"/>
    <p:sldId id="347" r:id="rId25"/>
    <p:sldId id="348" r:id="rId26"/>
    <p:sldId id="323" r:id="rId27"/>
    <p:sldId id="353" r:id="rId28"/>
    <p:sldId id="342" r:id="rId29"/>
    <p:sldId id="341" r:id="rId30"/>
    <p:sldId id="350" r:id="rId31"/>
    <p:sldId id="351" r:id="rId32"/>
    <p:sldId id="352" r:id="rId33"/>
    <p:sldId id="273" r:id="rId34"/>
    <p:sldId id="318" r:id="rId35"/>
    <p:sldId id="343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83375" autoAdjust="0"/>
  </p:normalViewPr>
  <p:slideViewPr>
    <p:cSldViewPr snapToGrid="0">
      <p:cViewPr varScale="1">
        <p:scale>
          <a:sx n="93" d="100"/>
          <a:sy n="93" d="100"/>
        </p:scale>
        <p:origin x="-127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60E3A-FA0E-443E-9935-A67CAEAD2C0A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939CA-B185-4986-9EB2-E9B2EE6609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85163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62805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663023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1872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년부터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2022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년까지의 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44,341 </a:t>
            </a:r>
            <a:r>
              <a:rPr lang="ko-KR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경기의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 국제 축구 결과와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1992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년도부터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2022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년도 까지의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FIFA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ea typeface="맑은 고딕" panose="020B0503020000020004" pitchFamily="50" charset="-127"/>
              </a:rPr>
              <a:t>세계 랭킹 두 가지 데이터 세트를 사용하였음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206627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8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fillna</a:t>
            </a: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메소드를 이용해 </a:t>
            </a:r>
            <a:r>
              <a:rPr lang="ko-KR" altLang="en-US" sz="18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결측치</a:t>
            </a: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(missing value)</a:t>
            </a:r>
            <a:r>
              <a:rPr lang="ko-KR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처리하는 과정을 거침</a:t>
            </a: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marR="0" lvl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ko-KR" sz="18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Home </a:t>
            </a:r>
            <a:r>
              <a:rPr lang="ko-KR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 </a:t>
            </a: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away 2</a:t>
            </a:r>
            <a:r>
              <a:rPr lang="ko-KR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가지 데이터 프레임을 </a:t>
            </a: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merge </a:t>
            </a:r>
            <a:r>
              <a:rPr lang="ko-KR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 후 </a:t>
            </a: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Aggregation </a:t>
            </a:r>
            <a:r>
              <a:rPr lang="ko-KR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하여 데이터를 </a:t>
            </a:r>
            <a:r>
              <a:rPr lang="ko-KR" altLang="en-US" sz="18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전처리</a:t>
            </a:r>
            <a:r>
              <a:rPr lang="ko-KR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하였다</a:t>
            </a:r>
            <a:r>
              <a:rPr lang="en-US" altLang="ko-KR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547117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지난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FIFA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랭킹 상위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국가의 포인트 변화량을 그래프로 도식화 해보았다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7997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경기 토너먼트 표본을 그래프화 하였다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l"/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경기의 중요도에 따라 가중치 비율을 수정해야하기 때문에 굉장히 중요한 데이터 표본이다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99362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매치별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평균 득점 상위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위 팀을 그래프화 하였다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두 팀 이상이 다득점까지 같을 경우 </a:t>
            </a:r>
            <a:endParaRPr lang="en-US" altLang="ko-KR" sz="1200" b="1" i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해당 팀 간 경기에서의 승점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골득실차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 i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다득점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조별리그 전체 경기에서의 페어플레이 점수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추첨 순으로 순위를 결정 짓는다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200" b="1" i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우리나라는 </a:t>
            </a:r>
            <a:r>
              <a:rPr lang="ko-KR" altLang="en-US" sz="1200" b="1" i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다득점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우위로 우루과이를 제치고 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강에 진출하였다</a:t>
            </a:r>
            <a:r>
              <a:rPr lang="en-US" altLang="ko-KR" sz="12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03350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 수 상위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위 팀을 그래프로 도식화 해보았다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l"/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FIFA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랭킹 상위 팀들 대다수가 상위권을 차지한 점을 확인할 수 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192151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Heat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데이터 프레임의 상관계수를 표시함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색이 밝을 수록 상관계수가 높음을 의미한다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739122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64842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Features Engineering</a:t>
            </a:r>
            <a:r>
              <a:rPr lang="ko-KR" altLang="en-US" dirty="0"/>
              <a:t>의 절차는 다음과 </a:t>
            </a:r>
            <a:r>
              <a:rPr lang="ko-KR" altLang="en-US"/>
              <a:t>같습니다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14274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Features Engineering</a:t>
            </a:r>
            <a:r>
              <a:rPr lang="ko-KR" altLang="en-US" dirty="0"/>
              <a:t>을 하는 이유는 사진과 같은 </a:t>
            </a:r>
            <a:r>
              <a:rPr lang="en-US" altLang="ko-KR" dirty="0"/>
              <a:t>3</a:t>
            </a:r>
            <a:r>
              <a:rPr lang="ko-KR" altLang="en-US" dirty="0"/>
              <a:t>가지 효과를 기대할 수 있기 때문입니다</a:t>
            </a:r>
            <a:r>
              <a:rPr lang="en-US" altLang="ko-KR" dirty="0"/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Dimension Reduction(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차원 감소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-&gt;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차원이 높으면 데이터 특징화가 어렵다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.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2.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 Feature Selection(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특징 선택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-&gt;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불필요한 데이터를 제거할 수 있음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.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3.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feature extraction(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특징 추출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-&gt;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모델의 확장성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촉진을 기대할 수 있음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.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3816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다음의 </a:t>
            </a:r>
            <a:r>
              <a:rPr lang="en-US" altLang="ko-KR" dirty="0"/>
              <a:t>6</a:t>
            </a:r>
            <a:r>
              <a:rPr lang="ko-KR" altLang="en-US" dirty="0"/>
              <a:t>가지 특징을 </a:t>
            </a:r>
            <a:r>
              <a:rPr lang="en-US" altLang="ko-KR" dirty="0"/>
              <a:t>Generation </a:t>
            </a:r>
            <a:r>
              <a:rPr lang="ko-KR" altLang="en-US" dirty="0"/>
              <a:t>하였습니다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이를 통해 새롭게 </a:t>
            </a:r>
            <a:r>
              <a:rPr lang="en-US" altLang="ko-KR" dirty="0"/>
              <a:t>Mapping</a:t>
            </a:r>
            <a:r>
              <a:rPr lang="ko-KR" altLang="en-US" dirty="0"/>
              <a:t>된 </a:t>
            </a:r>
            <a:r>
              <a:rPr lang="en-US" altLang="ko-KR" dirty="0"/>
              <a:t>Features</a:t>
            </a:r>
            <a:r>
              <a:rPr lang="ko-KR" altLang="en-US" dirty="0"/>
              <a:t>를 사용하여 유연하게 계산할 수 있게 되었고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모델의 성능을 향상시킬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41474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사이킷런을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사용하여 다층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퍼셉트론을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구성하였다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l"/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은닉층은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경사하강법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알고리즘은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lbfgs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에포크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횟수는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500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설정하였다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latin typeface="Noto Sans KR"/>
            </a:endParaRPr>
          </a:p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–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은닉층의 크기를 정의하는 </a:t>
            </a:r>
            <a:r>
              <a:rPr lang="en-US" altLang="ko-KR" b="1" i="0" dirty="0" err="1">
                <a:solidFill>
                  <a:srgbClr val="000000"/>
                </a:solidFill>
                <a:effectLst/>
                <a:latin typeface="Noto Sans KR"/>
              </a:rPr>
              <a:t>hidden_layer_sizes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/>
            </a:r>
            <a:b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은닉층의 크기를 정의하는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oto Sans KR"/>
              </a:rPr>
              <a:t>hidden_layer_sizes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는 은닉층의 수와 뉴런의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KR"/>
              </a:rPr>
              <a:t>갯수를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KR"/>
              </a:rPr>
              <a:t>튜플로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 전달한다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본 프로젝트에서는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3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개의 은닉층에 각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30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개의 뉴런이 있으므로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(30, 30, 30)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과 같이 지정했다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</a:t>
            </a:r>
          </a:p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–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활성화 함수를 지정하는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activation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/>
            </a:r>
            <a:b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은닉층의 활성화 함수는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activation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매개변수에 지정한다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여기서는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KR"/>
              </a:rPr>
              <a:t>시그모이드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 함수를 지정하기 위해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activation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매개변수에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logistic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을 전달한다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KR"/>
              </a:rPr>
              <a:t>사이킷런의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 신경망 모델은 은닉층마다 다른 활성화 함수를 지정할 수 없다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KR"/>
              </a:rPr>
              <a:t>텐서플로와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 같은 고급 딥러닝 패키지는 은닉층마다 다른 활성화 함수를 지정할 수 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</a:t>
            </a:r>
          </a:p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–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경사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Noto Sans KR"/>
              </a:rPr>
              <a:t>하강법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 알고리즘의 종류를 지정하는 매개변수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solver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/>
            </a:r>
            <a:b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solver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매개변수는 경사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KR"/>
              </a:rPr>
              <a:t>하강법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 알고리즘의 종류를 지정한다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여기서는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solver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매개변수에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oto Sans KR"/>
              </a:rPr>
              <a:t>lbfgs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값을 사용하였다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</a:t>
            </a:r>
          </a:p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latin typeface="Noto Sans KR"/>
              </a:rPr>
              <a:t>–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Noto Sans KR"/>
              </a:rPr>
              <a:t>에포크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Noto Sans KR"/>
              </a:rPr>
              <a:t> 횟수를 지정하는 매개변수 </a:t>
            </a:r>
            <a:r>
              <a:rPr lang="en-US" altLang="ko-KR" b="1" i="0" dirty="0" err="1">
                <a:solidFill>
                  <a:srgbClr val="000000"/>
                </a:solidFill>
                <a:effectLst/>
                <a:latin typeface="Noto Sans KR"/>
              </a:rPr>
              <a:t>max_iter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/>
            </a:r>
            <a:b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</a:b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 KR"/>
              </a:rPr>
              <a:t>에포크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 횟수를 위해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oto Sans KR"/>
              </a:rPr>
              <a:t>max_iter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500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/>
              </a:rPr>
              <a:t>으로 설정했다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36276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객체를 생성한 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fit()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메소드로 훈련하고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score()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메소드로 정확도를 평가한다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algn="l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Predict()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메소드는 새로운 샘플에 대한 분류 결과를 예측한다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44876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모델 훈련을 </a:t>
            </a:r>
            <a:r>
              <a:rPr lang="ko-KR" altLang="en-US" dirty="0" err="1"/>
              <a:t>시행시켰다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가지 모델을 생성하여 어느 모델이 정확도가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높은지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카파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계수로 확인하고자 한다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16129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 err="1">
                <a:solidFill>
                  <a:srgbClr val="000000"/>
                </a:solidFill>
                <a:effectLst/>
                <a:latin typeface="Helvetica Neue"/>
              </a:rPr>
              <a:t>카파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Helvetica Neue"/>
              </a:rPr>
              <a:t> 계수는 코헨이 제안했다고 하여 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Helvetica Neue"/>
              </a:rPr>
              <a:t>Cohen's Kappa 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Helvetica Neue"/>
              </a:rPr>
              <a:t>계수라 불린다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Helvetica Neue"/>
              </a:rPr>
              <a:t>. 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Helvetica Neue"/>
              </a:rPr>
              <a:t>이것은 두 관찰자 간의 측정 범주 값에 대한 일치도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latin typeface="Helvetica Neue"/>
              </a:rPr>
              <a:t>(agreement)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latin typeface="Helvetica Neue"/>
              </a:rPr>
              <a:t>를 측정하는 방법</a:t>
            </a:r>
            <a:r>
              <a:rPr lang="ko-KR" altLang="en-US" sz="11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이다</a:t>
            </a:r>
            <a:r>
              <a:rPr lang="en-US" altLang="ko-KR" sz="11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.</a:t>
            </a:r>
            <a:endParaRPr lang="en-US" altLang="ko-K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endParaRPr lang="en-US" altLang="ko-KR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검사자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혹은 검사방법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)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내의 범주는 반드시 동일해야 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  <a:b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코헨의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Helvetica Neue"/>
              </a:rPr>
              <a:t>카파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 Neue"/>
              </a:rPr>
              <a:t> 계수는 두 관찰자 사이의 일치도를 확인하고 싶을 때 사용하는 분석법이다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 Neue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52781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정확도와 </a:t>
            </a:r>
            <a:r>
              <a:rPr lang="en-US" altLang="ko-KR" dirty="0"/>
              <a:t>AUC </a:t>
            </a:r>
            <a:r>
              <a:rPr lang="ko-KR" altLang="en-US" dirty="0" err="1"/>
              <a:t>카파계수를</a:t>
            </a:r>
            <a:r>
              <a:rPr lang="ko-KR" altLang="en-US" dirty="0"/>
              <a:t> </a:t>
            </a:r>
            <a:r>
              <a:rPr lang="ko-KR" altLang="en-US" dirty="0" err="1"/>
              <a:t>비교해봤을때</a:t>
            </a:r>
            <a:endParaRPr lang="en-US" altLang="ko-KR" dirty="0"/>
          </a:p>
          <a:p>
            <a:r>
              <a:rPr lang="ko-KR" altLang="en-US" dirty="0"/>
              <a:t>로지스틱 회귀가 </a:t>
            </a:r>
            <a:r>
              <a:rPr lang="en-US" altLang="ko-KR" dirty="0" err="1"/>
              <a:t>MLPClassifier</a:t>
            </a:r>
            <a:r>
              <a:rPr lang="en-US" altLang="ko-KR" dirty="0"/>
              <a:t> </a:t>
            </a:r>
            <a:r>
              <a:rPr lang="ko-KR" altLang="en-US" dirty="0"/>
              <a:t>보다 정확도가 높은 것을 확인할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26767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Lgb</a:t>
            </a:r>
            <a:r>
              <a:rPr lang="en-US" altLang="ko-KR" dirty="0"/>
              <a:t> </a:t>
            </a:r>
            <a:r>
              <a:rPr lang="ko-KR" altLang="en-US" dirty="0"/>
              <a:t>방식이 </a:t>
            </a:r>
            <a:r>
              <a:rPr lang="ko-KR" altLang="en-US" dirty="0" err="1"/>
              <a:t>랜덤포레스트</a:t>
            </a:r>
            <a:r>
              <a:rPr lang="ko-KR" altLang="en-US" dirty="0"/>
              <a:t> 알고리즘보다 정확도가 </a:t>
            </a:r>
            <a:r>
              <a:rPr lang="ko-KR" altLang="en-US" dirty="0" err="1"/>
              <a:t>높은것을</a:t>
            </a:r>
            <a:r>
              <a:rPr lang="ko-KR" altLang="en-US" dirty="0"/>
              <a:t> 확인할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그러나 두 모델 모두 로지스틱 회귀에 비해 정확도가 확연히 높은 것도 아니고 </a:t>
            </a:r>
            <a:r>
              <a:rPr lang="en-US" altLang="ko-KR" dirty="0"/>
              <a:t>Running Time</a:t>
            </a:r>
            <a:r>
              <a:rPr lang="ko-KR" altLang="en-US" dirty="0"/>
              <a:t>이 로지스틱 회귀가 확연히 뛰어나기 때문에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우린 로지스틱 모델을 </a:t>
            </a:r>
            <a:r>
              <a:rPr lang="ko-KR" altLang="en-US" dirty="0" err="1"/>
              <a:t>사용하고자한다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0415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ROC curve</a:t>
            </a:r>
            <a:r>
              <a:rPr lang="ko-KR" altLang="en-US" dirty="0"/>
              <a:t>는 어떤 모델</a:t>
            </a:r>
            <a:r>
              <a:rPr lang="en-US" altLang="ko-KR" dirty="0"/>
              <a:t>(classifier)</a:t>
            </a:r>
            <a:r>
              <a:rPr lang="ko-KR" altLang="en-US" dirty="0"/>
              <a:t>이 좋은 성능을 보이는지 판단할 때 사용할 수 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높은 </a:t>
            </a:r>
            <a:r>
              <a:rPr lang="en-US" altLang="ko-KR" dirty="0"/>
              <a:t>sensitivity</a:t>
            </a:r>
            <a:r>
              <a:rPr lang="ko-KR" altLang="en-US" dirty="0"/>
              <a:t>와 높은 </a:t>
            </a:r>
            <a:r>
              <a:rPr lang="en-US" altLang="ko-KR" dirty="0"/>
              <a:t>specificity</a:t>
            </a:r>
            <a:r>
              <a:rPr lang="ko-KR" altLang="en-US" dirty="0"/>
              <a:t>를 보이는 모델을 고르기 위해 다양한 모델에 대해 </a:t>
            </a:r>
            <a:r>
              <a:rPr lang="en-US" altLang="ko-KR" dirty="0"/>
              <a:t>ROC curve</a:t>
            </a:r>
            <a:r>
              <a:rPr lang="ko-KR" altLang="en-US" dirty="0"/>
              <a:t>를 그려본다</a:t>
            </a:r>
            <a:r>
              <a:rPr lang="en-US" altLang="ko-KR" dirty="0"/>
              <a:t>. </a:t>
            </a:r>
            <a:r>
              <a:rPr lang="ko-KR" altLang="en-US" dirty="0"/>
              <a:t>이때 좌상단으로 가장 많이 치우친 그래프를 갖는 모델이 가장 높은 성능을 보인다고 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 </a:t>
            </a:r>
            <a:r>
              <a:rPr lang="en-US" altLang="ko-KR" dirty="0"/>
              <a:t>AUC (Area Under the ROC Curve)</a:t>
            </a:r>
            <a:r>
              <a:rPr lang="ko-KR" altLang="en-US" dirty="0"/>
              <a:t>는 </a:t>
            </a:r>
            <a:r>
              <a:rPr lang="en-US" altLang="ko-KR" dirty="0"/>
              <a:t>ROC curve</a:t>
            </a:r>
            <a:r>
              <a:rPr lang="ko-KR" altLang="en-US" dirty="0"/>
              <a:t>의 밑면적을 말한다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성능 평가에 있어서 수치적인 기준이 될 수 있는 값으로</a:t>
            </a:r>
            <a:r>
              <a:rPr lang="en-US" altLang="ko-KR" dirty="0"/>
              <a:t>, 1</a:t>
            </a:r>
            <a:r>
              <a:rPr lang="ko-KR" altLang="en-US" dirty="0"/>
              <a:t>에 가까울수록 그래프가 좌상단에 근접하게 되므로 좋은 모델이라고 할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45874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높은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sensitivity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높은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specificity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보이는 모델을 고르기 위해 앞서 비교한 다양한 모델에 대해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 curve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그려보았다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Logistic Regression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의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 curve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 가장 이상적인 모습을 확인할 수 있었다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1425300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914683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ko-KR" sz="18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223951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ko-KR" sz="18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674108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기계학습이 예측한 우승국가인 벨기에는 </a:t>
            </a:r>
            <a:r>
              <a:rPr lang="en-US" altLang="ko-KR" dirty="0"/>
              <a:t>32</a:t>
            </a:r>
            <a:r>
              <a:rPr lang="ko-KR" altLang="en-US" dirty="0"/>
              <a:t>강 조별리그에서 탈락하였다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기계학습이 예측한 </a:t>
            </a:r>
            <a:r>
              <a:rPr lang="en-US" altLang="ko-KR" dirty="0"/>
              <a:t>16</a:t>
            </a:r>
            <a:r>
              <a:rPr lang="ko-KR" altLang="en-US" dirty="0"/>
              <a:t>강 진출 국가에 해당되는 국가는 </a:t>
            </a:r>
            <a:r>
              <a:rPr lang="en-US" altLang="ko-KR" dirty="0"/>
              <a:t>11</a:t>
            </a:r>
            <a:r>
              <a:rPr lang="ko-KR" altLang="en-US" dirty="0"/>
              <a:t>국가에 불가하다</a:t>
            </a:r>
            <a:r>
              <a:rPr lang="en-US" altLang="ko-KR" dirty="0"/>
              <a:t>. </a:t>
            </a:r>
            <a:r>
              <a:rPr lang="ko-KR" altLang="en-US" dirty="0"/>
              <a:t>벨기에</a:t>
            </a:r>
            <a:r>
              <a:rPr lang="en-US" altLang="ko-KR" dirty="0"/>
              <a:t>, </a:t>
            </a:r>
            <a:r>
              <a:rPr lang="ko-KR" altLang="en-US" dirty="0"/>
              <a:t>멕시코</a:t>
            </a:r>
            <a:r>
              <a:rPr lang="en-US" altLang="ko-KR" dirty="0"/>
              <a:t>, </a:t>
            </a:r>
            <a:r>
              <a:rPr lang="ko-KR" altLang="en-US" dirty="0"/>
              <a:t>독일</a:t>
            </a:r>
            <a:r>
              <a:rPr lang="en-US" altLang="ko-KR" dirty="0"/>
              <a:t>, </a:t>
            </a:r>
            <a:r>
              <a:rPr lang="ko-KR" altLang="en-US" dirty="0"/>
              <a:t>우루과이</a:t>
            </a:r>
            <a:r>
              <a:rPr lang="en-US" altLang="ko-KR" dirty="0"/>
              <a:t>, </a:t>
            </a:r>
            <a:r>
              <a:rPr lang="ko-KR" altLang="en-US" dirty="0"/>
              <a:t>덴마크는 조별리그에서 탈락하였다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74657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005707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경기 당일의 날씨나 응원 현황</a:t>
            </a:r>
            <a:r>
              <a:rPr lang="en-US" altLang="ko-KR" dirty="0"/>
              <a:t>, </a:t>
            </a:r>
            <a:r>
              <a:rPr lang="ko-KR" altLang="en-US" dirty="0"/>
              <a:t>심판관련 정보</a:t>
            </a:r>
            <a:r>
              <a:rPr lang="en-US" altLang="ko-KR" dirty="0"/>
              <a:t>, </a:t>
            </a:r>
            <a:r>
              <a:rPr lang="ko-KR" altLang="en-US" dirty="0"/>
              <a:t>출전국의 정치적 상황</a:t>
            </a:r>
            <a:r>
              <a:rPr lang="en-US" altLang="ko-KR" dirty="0"/>
              <a:t>, </a:t>
            </a:r>
            <a:r>
              <a:rPr lang="ko-KR" altLang="en-US" dirty="0"/>
              <a:t>선수 개인의 정보 등 경기의 성패와 간접적으로 관련된 더 많은 데이터가 사용되었다면 더 정확한 예측을 할 수 있었을 지도 모릅니다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축구는 </a:t>
            </a:r>
            <a:r>
              <a:rPr lang="en-US" altLang="ko-KR" dirty="0"/>
              <a:t>22</a:t>
            </a:r>
            <a:r>
              <a:rPr lang="ko-KR" altLang="en-US" dirty="0"/>
              <a:t>명의 선수가 </a:t>
            </a:r>
            <a:r>
              <a:rPr lang="en-US" altLang="ko-KR" dirty="0"/>
              <a:t>90</a:t>
            </a:r>
            <a:r>
              <a:rPr lang="ko-KR" altLang="en-US" dirty="0"/>
              <a:t>분간 그라운드에서 볼을 가지고 하는 스포츠입니다</a:t>
            </a:r>
            <a:r>
              <a:rPr lang="en-US" altLang="ko-KR" dirty="0"/>
              <a:t>. </a:t>
            </a:r>
            <a:r>
              <a:rPr lang="ko-KR" altLang="en-US" dirty="0"/>
              <a:t>사람과 사람의 상호작용에 의한 경기이기 때문에 선수 개인의 심리적 상태는 물론 한 팀 선수들 간의 교감</a:t>
            </a:r>
            <a:r>
              <a:rPr lang="en-US" altLang="ko-KR" dirty="0"/>
              <a:t>, </a:t>
            </a:r>
            <a:r>
              <a:rPr lang="ko-KR" altLang="en-US" dirty="0"/>
              <a:t>상대 팀 선수와의 사회적</a:t>
            </a:r>
            <a:r>
              <a:rPr lang="en-US" altLang="ko-KR" dirty="0"/>
              <a:t>, </a:t>
            </a:r>
            <a:r>
              <a:rPr lang="ko-KR" altLang="en-US" dirty="0"/>
              <a:t>상황적 관계가 고려되야 합니다</a:t>
            </a:r>
            <a:r>
              <a:rPr lang="en-US" altLang="ko-KR" dirty="0"/>
              <a:t>. </a:t>
            </a:r>
            <a:r>
              <a:rPr lang="ko-KR" altLang="en-US" dirty="0"/>
              <a:t>축구 성적과 관련한 </a:t>
            </a:r>
            <a:r>
              <a:rPr lang="en-US" altLang="ko-KR" dirty="0"/>
              <a:t>20</a:t>
            </a:r>
            <a:r>
              <a:rPr lang="ko-KR" altLang="en-US" dirty="0"/>
              <a:t>여 개 남짓한 데이터로서는 설명할 수 없는 복잡한 요인들과 돌발상황들이 존재하고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50378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경기 배당률 공식과 기계학습으로 예측한 승률을 비교하여 조금 더 전략적인 배팅이 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547640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세계 최고의 클럽 중 하나인 스페인의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FC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바르셀로나가 이탈리아 연구진과 협력해 만든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AI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847874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독일 대표팀의 성공사례 이후 리버풀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첼시를 비롯한 유럽 축구 빅리그서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선수 코칭 열풍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7220378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b="0" i="0" dirty="0" err="1">
                <a:solidFill>
                  <a:srgbClr val="1E1E1E"/>
                </a:solidFill>
                <a:effectLst/>
                <a:latin typeface="Apple SD Gothic Neo"/>
              </a:rPr>
              <a:t>딥마인드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 연구진은 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2017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년부터 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2019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년까지 리버풀이 진행한 모든 프리미어 리그 경기 데이터에 자사 강화학습 기술을 적용해 새로운 정보를 제공했다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. 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인간 코치의 직관과 경험이 아닌 데이터를 기반으로 선수 교체 타이밍과 교체 선수를 제안하는 식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. 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전술 변화로 인한 결과나 주요 플레이어가 부상을 입었을 때의 상대팀 플레이 방식도 예측 가능하다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b="0" i="0" dirty="0" err="1">
                <a:solidFill>
                  <a:srgbClr val="1E1E1E"/>
                </a:solidFill>
                <a:effectLst/>
                <a:latin typeface="Apple SD Gothic Neo"/>
              </a:rPr>
              <a:t>패널티킥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 성공률을 높이는 골 방향 추정에 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AI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를 사용하기도 했다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. 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유럽 전역에서 치러진 경기에서 나온 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1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만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2000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개 이상 </a:t>
            </a:r>
            <a:r>
              <a:rPr lang="ko-KR" altLang="en-US" b="0" i="0" dirty="0" err="1">
                <a:solidFill>
                  <a:srgbClr val="1E1E1E"/>
                </a:solidFill>
                <a:effectLst/>
                <a:latin typeface="Apple SD Gothic Neo"/>
              </a:rPr>
              <a:t>패널티킥을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 분석한 결과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, 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미드필더보다 스트라이커는 왼쪽 아래 구석을 공략할 가능성이 더 높았다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이외 패스 혹은 태클 실패와 같은 특정 행동이 골 성공률에 얼마나 영향을 미치는지 분석했다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. </a:t>
            </a:r>
            <a:r>
              <a:rPr lang="ko-KR" altLang="en-US" b="0" i="0" dirty="0" err="1">
                <a:solidFill>
                  <a:srgbClr val="1E1E1E"/>
                </a:solidFill>
                <a:effectLst/>
                <a:latin typeface="Apple SD Gothic Neo"/>
              </a:rPr>
              <a:t>딥마인드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/>
              </a:rPr>
              <a:t> 연구 결과는 리버풀 선수들에게 특정 상황에서 슈팅 대신 공을 패스해야 하는 이유를 제시했다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/>
              </a:rPr>
              <a:t>.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6290358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FF802-DFDB-4A68-8F2F-BA833E4E2E08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178822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939CA-B185-4986-9EB2-E9B2EE6609D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65169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CBD4EEA-56D5-717F-1CA5-1C4645196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D49F3FBD-78A5-8E30-189C-D0BCD0177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144CA34-EAD5-1488-9D1A-CCEA72172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FB71861-0C0D-680D-4DD7-1487695B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802C8EE-96F5-9031-727E-D44242BB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9099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FA8AF74-BD93-9DCE-4A23-88EC5F23D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50794EC-F507-B4C9-0AE2-44DFFE9F1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2AEE2CD-0E5A-CB22-E7BB-A59FEF28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30BCE3B-4441-CDBD-C98A-0DA74373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17BEA87-590F-C15E-7E9A-464795B8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4307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DF0E574-8ADF-6E6B-D54F-99CE176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E7DF2380-E0B3-1631-DE22-1F14E4AFC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5EC08B4-BB48-E263-0D02-3E14282B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574B1DB-9595-5E4D-0309-5EDDBB54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9964E6B-34C9-7FB5-5454-C1BD5246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1491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4BD377-3A90-02B2-CD20-DAEF9861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F6D35EC-EE24-BA8E-A543-BB1F6406C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CA7C9AD4-01B6-F271-BE75-B4E269206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BDEBEBD-2049-F74F-E356-FE97A2D0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3F4B92B-AD04-C6F9-A7C6-B7E76E19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87B0659-3C59-65B5-A51C-4D055347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77430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8998F40-F7BC-147D-59C1-8DA3031C1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4387258-69AE-432E-53A9-E6CE41627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5CD74EDE-79CD-4EF2-66A4-3DA847DD3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2F8598B8-0594-674D-9772-0B25D5EDB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D2985DF4-A7BC-85C0-330F-378574579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35916261-F4B4-1BD2-97DA-097E0AB7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892E31E7-1C9A-8F0A-FD8F-8CED246F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6AF4FF0C-1310-304A-0A64-1755A5D7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560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C8BA350-FAB4-155F-5345-1106A485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35F10C5-89FD-7BAE-723E-C8680D54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45CB275A-4857-A967-51D0-98852C05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67C89308-55BF-433A-BFDF-F17F35E4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1011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247DDBB3-919E-ACDB-27B4-D15FF71C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B48A1291-6B97-2C98-FF99-2D2C67CC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8336F51-D3D3-E153-82A2-2606FBEF4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2027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B14C696-789A-45D0-BD0B-0D033D23B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0164EEA-C5A2-BBD9-C600-3A3A00828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13ACA27-E0AC-1587-1988-EAB28B400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EB05242-EA9E-9F89-4216-8CF1BEE9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1B06448-8A18-A66A-7AB3-4059505D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87F1E6C-0EC0-94F7-2E84-3BDBE9CA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5008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B51895-8B80-299F-094F-D66F6377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28234BB8-03A9-0F1D-A283-C97445657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70C92D5-0B8B-99EF-A4CC-7D7555AD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4DE2C9BA-9458-18BE-FFBD-D5147529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1C7CC94-6D7D-4DBA-A73A-8E34B8262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519E929-6D95-86EE-D630-FC5561EE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190855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D46857-1E5A-AF89-A2CF-6D45A8D1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77E910C-D8A8-9483-1A42-3E8C4EB39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DF6F054-CC7C-3607-3A33-81578E46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B8A3492-1FD0-4AFE-2BE9-8AED0238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8539B15-B5A3-5CC3-44CC-8AFF7D1B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6718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76152AC3-F7D9-7794-AA6D-2853FC195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26FF9F3-B588-6B28-DF0D-415532321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1739D04-DA5A-8236-44EF-2D5D8895C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C2A328B-DB2E-E9A9-D466-09D75F3F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E2BDCB4-544D-FCBC-40E9-513A906D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4402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61892FEB-BC6F-469C-ED63-04553B5A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5753DFF-374B-F4A6-9AB1-4928CA2A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E10DDD9-A8A6-2BAE-06E9-F449A0D07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62EAA-62CF-409E-9486-93CF96154A2B}" type="datetimeFigureOut">
              <a:rPr lang="ko-KR" altLang="en-US" smtClean="0"/>
              <a:pPr/>
              <a:t>2023-12-05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E351EF4-50D1-A414-DF46-C630343A2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F1FDFC7-7D4D-DE2C-B975-D8554DB88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D70E-AD16-4D67-89D2-CA43B791B9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91181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W-YzWqpWqI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4CB9193-971C-C2C2-6B77-6DC196144CBF}"/>
              </a:ext>
            </a:extLst>
          </p:cNvPr>
          <p:cNvSpPr txBox="1"/>
          <p:nvPr/>
        </p:nvSpPr>
        <p:spPr>
          <a:xfrm>
            <a:off x="-877809" y="3075057"/>
            <a:ext cx="8711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Logistic Regression</a:t>
            </a:r>
            <a:r>
              <a:rPr lang="ko-KR" altLang="en-US" sz="20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을 이용한 </a:t>
            </a:r>
            <a:endParaRPr lang="en-US" altLang="ko-KR" sz="2000" b="1" dirty="0">
              <a:solidFill>
                <a:srgbClr val="000000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  <a:p>
            <a:pPr algn="r"/>
            <a:r>
              <a:rPr lang="en-US" altLang="ko-KR" sz="20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FIFA 2022 World Cup </a:t>
            </a:r>
            <a:r>
              <a:rPr lang="ko-KR" altLang="en-US" sz="20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예측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D3651D4-252C-1D7A-8A1B-AF5029B76C54}"/>
              </a:ext>
            </a:extLst>
          </p:cNvPr>
          <p:cNvSpPr txBox="1"/>
          <p:nvPr/>
        </p:nvSpPr>
        <p:spPr>
          <a:xfrm>
            <a:off x="8198680" y="4924983"/>
            <a:ext cx="3592825" cy="143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endParaRPr lang="en-US" altLang="ko-KR" sz="15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</a:rPr>
              <a:t>7</a:t>
            </a:r>
            <a:r>
              <a:rPr lang="ko-KR" altLang="en-US" sz="1500" dirty="0">
                <a:solidFill>
                  <a:schemeClr val="bg1"/>
                </a:solidFill>
              </a:rPr>
              <a:t>번호의 선물</a:t>
            </a:r>
            <a:endParaRPr lang="en-US" altLang="ko-KR" sz="15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</a:rPr>
              <a:t>17681017 </a:t>
            </a:r>
            <a:r>
              <a:rPr lang="ko-KR" altLang="en-US" sz="1500" dirty="0">
                <a:solidFill>
                  <a:schemeClr val="bg1"/>
                </a:solidFill>
              </a:rPr>
              <a:t>유환인</a:t>
            </a:r>
            <a:endParaRPr lang="en-US" altLang="ko-KR" sz="15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</a:rPr>
              <a:t>17681023 </a:t>
            </a:r>
            <a:r>
              <a:rPr lang="ko-KR" altLang="en-US" sz="1500" dirty="0" err="1">
                <a:solidFill>
                  <a:schemeClr val="bg1"/>
                </a:solidFill>
              </a:rPr>
              <a:t>이장연</a:t>
            </a:r>
            <a:endParaRPr lang="en-US" altLang="ko-KR" sz="1500" dirty="0">
              <a:solidFill>
                <a:schemeClr val="bg1"/>
              </a:solidFill>
            </a:endParaRPr>
          </a:p>
        </p:txBody>
      </p:sp>
      <p:pic>
        <p:nvPicPr>
          <p:cNvPr id="8" name="그림 7" descr="텍스트, 밤하늘이(가) 표시된 사진&#10;&#10;자동 생성된 설명">
            <a:extLst>
              <a:ext uri="{FF2B5EF4-FFF2-40B4-BE49-F238E27FC236}">
                <a16:creationId xmlns:a16="http://schemas.microsoft.com/office/drawing/2014/main" xmlns="" id="{296F2B17-4889-BD76-3CF7-7B656914A0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9129123-3302-D757-14B5-9D41934B501B}"/>
              </a:ext>
            </a:extLst>
          </p:cNvPr>
          <p:cNvSpPr txBox="1"/>
          <p:nvPr/>
        </p:nvSpPr>
        <p:spPr>
          <a:xfrm>
            <a:off x="-877809" y="999646"/>
            <a:ext cx="8711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Logistic Regression</a:t>
            </a:r>
            <a:r>
              <a:rPr lang="ko-KR" altLang="en-US" sz="2000" b="1" dirty="0">
                <a:solidFill>
                  <a:schemeClr val="bg1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을 이용한 </a:t>
            </a:r>
            <a:endParaRPr lang="en-US" altLang="ko-KR" sz="2000" b="1" dirty="0">
              <a:solidFill>
                <a:schemeClr val="bg1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  <a:p>
            <a:pPr algn="r"/>
            <a:r>
              <a:rPr lang="en-US" altLang="ko-KR" sz="2000" b="1">
                <a:solidFill>
                  <a:schemeClr val="bg1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2022 FIFA World </a:t>
            </a:r>
            <a:r>
              <a:rPr lang="en-US" altLang="ko-KR" sz="2000" b="1" dirty="0">
                <a:solidFill>
                  <a:schemeClr val="bg1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Cup </a:t>
            </a:r>
            <a:r>
              <a:rPr lang="ko-KR" altLang="en-US" sz="2000" b="1" dirty="0">
                <a:solidFill>
                  <a:schemeClr val="bg1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예측</a:t>
            </a:r>
            <a:endParaRPr lang="en-US" altLang="ko-KR" sz="2000" b="1" dirty="0">
              <a:solidFill>
                <a:schemeClr val="bg1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F1D01AA-B1DB-FCDF-B4B1-D06DD329E05C}"/>
              </a:ext>
            </a:extLst>
          </p:cNvPr>
          <p:cNvSpPr txBox="1"/>
          <p:nvPr/>
        </p:nvSpPr>
        <p:spPr>
          <a:xfrm>
            <a:off x="7403429" y="4508217"/>
            <a:ext cx="3592825" cy="143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endParaRPr lang="en-US" altLang="ko-KR" sz="15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</a:rPr>
              <a:t>7</a:t>
            </a:r>
            <a:r>
              <a:rPr lang="ko-KR" altLang="en-US" sz="1500">
                <a:solidFill>
                  <a:schemeClr val="bg1"/>
                </a:solidFill>
              </a:rPr>
              <a:t>번 형의 </a:t>
            </a:r>
            <a:r>
              <a:rPr lang="ko-KR" altLang="en-US" sz="1500" dirty="0">
                <a:solidFill>
                  <a:schemeClr val="bg1"/>
                </a:solidFill>
              </a:rPr>
              <a:t>선물</a:t>
            </a:r>
            <a:endParaRPr lang="en-US" altLang="ko-KR" sz="15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</a:rPr>
              <a:t>17681017 </a:t>
            </a:r>
            <a:r>
              <a:rPr lang="ko-KR" altLang="en-US" sz="1500" dirty="0">
                <a:solidFill>
                  <a:schemeClr val="bg1"/>
                </a:solidFill>
              </a:rPr>
              <a:t>유환인</a:t>
            </a:r>
            <a:endParaRPr lang="en-US" altLang="ko-KR" sz="15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</a:rPr>
              <a:t>17681023 </a:t>
            </a:r>
            <a:r>
              <a:rPr lang="ko-KR" altLang="en-US" sz="1500" dirty="0" err="1">
                <a:solidFill>
                  <a:schemeClr val="bg1"/>
                </a:solidFill>
              </a:rPr>
              <a:t>이장연</a:t>
            </a:r>
            <a:endParaRPr lang="en-US" altLang="ko-KR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379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잔디, 축구이(가) 표시된 사진&#10;&#10;자동 생성된 설명">
            <a:extLst>
              <a:ext uri="{FF2B5EF4-FFF2-40B4-BE49-F238E27FC236}">
                <a16:creationId xmlns:a16="http://schemas.microsoft.com/office/drawing/2014/main" xmlns="" id="{93F9C038-BD14-1B38-5381-E8D5AB6F8E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0375" b="1406"/>
          <a:stretch/>
        </p:blipFill>
        <p:spPr>
          <a:xfrm>
            <a:off x="20" y="2737"/>
            <a:ext cx="12191980" cy="685671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6BD006E-B5C9-51AB-0705-1140AC3E496D}"/>
              </a:ext>
            </a:extLst>
          </p:cNvPr>
          <p:cNvSpPr/>
          <p:nvPr/>
        </p:nvSpPr>
        <p:spPr>
          <a:xfrm>
            <a:off x="7660" y="-81648"/>
            <a:ext cx="12191999" cy="709913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EC0D6F2-401E-D985-6E4E-FC581056633B}"/>
              </a:ext>
            </a:extLst>
          </p:cNvPr>
          <p:cNvSpPr txBox="1"/>
          <p:nvPr/>
        </p:nvSpPr>
        <p:spPr>
          <a:xfrm>
            <a:off x="675816" y="2751311"/>
            <a:ext cx="2573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C O N T E N T S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C66D2AF-8E8B-ECAC-6164-884088410BDA}"/>
              </a:ext>
            </a:extLst>
          </p:cNvPr>
          <p:cNvSpPr txBox="1"/>
          <p:nvPr/>
        </p:nvSpPr>
        <p:spPr>
          <a:xfrm>
            <a:off x="1231256" y="3248979"/>
            <a:ext cx="28472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1. Data Preparation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chemeClr val="bg1"/>
                </a:solidFill>
              </a:rPr>
              <a:t>     - Data Collection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chemeClr val="bg1"/>
                </a:solidFill>
              </a:rPr>
              <a:t>     -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 Preprocessing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18FA310-969A-359D-751F-94CEA88F9976}"/>
              </a:ext>
            </a:extLst>
          </p:cNvPr>
          <p:cNvSpPr txBox="1"/>
          <p:nvPr/>
        </p:nvSpPr>
        <p:spPr>
          <a:xfrm>
            <a:off x="3917112" y="3248979"/>
            <a:ext cx="277954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bg1"/>
                </a:solidFill>
              </a:rPr>
              <a:t>2. Features Engineering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chemeClr val="bg1"/>
                </a:solidFill>
              </a:rPr>
              <a:t>    - Features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chemeClr val="bg1"/>
                </a:solidFill>
              </a:rPr>
              <a:t>    - Model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chemeClr val="bg1"/>
                </a:solidFill>
              </a:rPr>
              <a:t>    </a:t>
            </a:r>
          </a:p>
          <a:p>
            <a:pPr>
              <a:lnSpc>
                <a:spcPct val="200000"/>
              </a:lnSpc>
            </a:pPr>
            <a:endParaRPr lang="en-US" altLang="ko-KR" dirty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982044B-D753-0668-E00F-5C141DD88EF0}"/>
              </a:ext>
            </a:extLst>
          </p:cNvPr>
          <p:cNvSpPr txBox="1"/>
          <p:nvPr/>
        </p:nvSpPr>
        <p:spPr>
          <a:xfrm>
            <a:off x="6652330" y="3420464"/>
            <a:ext cx="22365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3. Data Analysis</a:t>
            </a:r>
          </a:p>
          <a:p>
            <a:endParaRPr lang="en-US" altLang="ko-KR" b="1" dirty="0">
              <a:solidFill>
                <a:schemeClr val="bg1"/>
              </a:solidFill>
            </a:endParaRPr>
          </a:p>
          <a:p>
            <a:r>
              <a:rPr lang="en-US" altLang="ko-KR" b="1" dirty="0">
                <a:solidFill>
                  <a:schemeClr val="bg1"/>
                </a:solidFill>
              </a:rPr>
              <a:t>    </a:t>
            </a:r>
            <a:r>
              <a:rPr lang="en-US" altLang="ko-KR" dirty="0">
                <a:solidFill>
                  <a:schemeClr val="bg1"/>
                </a:solidFill>
              </a:rPr>
              <a:t>- WC Simulation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- </a:t>
            </a:r>
            <a:r>
              <a:rPr lang="ko-KR" altLang="en-US" dirty="0">
                <a:solidFill>
                  <a:schemeClr val="bg1"/>
                </a:solidFill>
              </a:rPr>
              <a:t>시연 영상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74D1C61-C897-0653-D784-B3C4BBEE0113}"/>
              </a:ext>
            </a:extLst>
          </p:cNvPr>
          <p:cNvSpPr txBox="1"/>
          <p:nvPr/>
        </p:nvSpPr>
        <p:spPr>
          <a:xfrm>
            <a:off x="8889285" y="3420463"/>
            <a:ext cx="16930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4. </a:t>
            </a:r>
            <a:r>
              <a:rPr lang="ko-KR" altLang="en-US" b="1" dirty="0">
                <a:solidFill>
                  <a:schemeClr val="bg1"/>
                </a:solidFill>
              </a:rPr>
              <a:t>소감</a:t>
            </a:r>
            <a:endParaRPr lang="en-US" altLang="ko-KR" b="1" dirty="0">
              <a:solidFill>
                <a:schemeClr val="bg1"/>
              </a:solidFill>
            </a:endParaRPr>
          </a:p>
          <a:p>
            <a:endParaRPr lang="en-US" altLang="ko-KR" b="1" dirty="0">
              <a:solidFill>
                <a:schemeClr val="bg1"/>
              </a:solidFill>
            </a:endParaRPr>
          </a:p>
          <a:p>
            <a:r>
              <a:rPr lang="en-US" altLang="ko-KR" b="1" dirty="0">
                <a:solidFill>
                  <a:schemeClr val="bg1"/>
                </a:solidFill>
              </a:rPr>
              <a:t>    </a:t>
            </a: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발전 방향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    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    - </a:t>
            </a:r>
            <a:r>
              <a:rPr lang="ko-KR" altLang="en-US" dirty="0">
                <a:solidFill>
                  <a:schemeClr val="bg1"/>
                </a:solidFill>
              </a:rPr>
              <a:t>소감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95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잔디, 축구이(가) 표시된 사진&#10;&#10;자동 생성된 설명">
            <a:extLst>
              <a:ext uri="{FF2B5EF4-FFF2-40B4-BE49-F238E27FC236}">
                <a16:creationId xmlns:a16="http://schemas.microsoft.com/office/drawing/2014/main" xmlns="" id="{93F9C038-BD14-1B38-5381-E8D5AB6F8E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0375" b="1406"/>
          <a:stretch/>
        </p:blipFill>
        <p:spPr>
          <a:xfrm>
            <a:off x="20" y="2737"/>
            <a:ext cx="12191980" cy="685671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6BD006E-B5C9-51AB-0705-1140AC3E496D}"/>
              </a:ext>
            </a:extLst>
          </p:cNvPr>
          <p:cNvSpPr/>
          <p:nvPr/>
        </p:nvSpPr>
        <p:spPr>
          <a:xfrm>
            <a:off x="7660" y="-81648"/>
            <a:ext cx="12191999" cy="709913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EC0D6F2-401E-D985-6E4E-FC581056633B}"/>
              </a:ext>
            </a:extLst>
          </p:cNvPr>
          <p:cNvSpPr txBox="1"/>
          <p:nvPr/>
        </p:nvSpPr>
        <p:spPr>
          <a:xfrm>
            <a:off x="3792353" y="2855793"/>
            <a:ext cx="4956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</a:rPr>
              <a:t>1. Data Preparation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322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5FE5068C-3C3C-834E-9E9C-C8265141E5E6}"/>
              </a:ext>
            </a:extLst>
          </p:cNvPr>
          <p:cNvCxnSpPr>
            <a:cxnSpLocks/>
          </p:cNvCxnSpPr>
          <p:nvPr/>
        </p:nvCxnSpPr>
        <p:spPr>
          <a:xfrm>
            <a:off x="-32772" y="2015132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45B29638-7D6D-0EB2-9531-60DF48A55E48}"/>
              </a:ext>
            </a:extLst>
          </p:cNvPr>
          <p:cNvSpPr txBox="1"/>
          <p:nvPr/>
        </p:nvSpPr>
        <p:spPr>
          <a:xfrm>
            <a:off x="5418569" y="1320138"/>
            <a:ext cx="1354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선별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2931493" y="388021"/>
            <a:ext cx="6456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Data Collection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2EAA72C-745F-C82C-D507-AB6E933C94D1}"/>
              </a:ext>
            </a:extLst>
          </p:cNvPr>
          <p:cNvSpPr txBox="1"/>
          <p:nvPr/>
        </p:nvSpPr>
        <p:spPr>
          <a:xfrm>
            <a:off x="2805196" y="5515872"/>
            <a:ext cx="67189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 세트는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1872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년부터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2022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년까지의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44,341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경기의 국제 축구 결과와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1992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년부터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2022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년도 까지의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FIFA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세계 랭킹 두 가지 데이터 세트를 사용하였음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ctr"/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95F0BD7E-B080-01AF-8B5D-E3A50803F983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F5D654F-94DE-787B-7758-9750C15E0218}"/>
              </a:ext>
            </a:extLst>
          </p:cNvPr>
          <p:cNvSpPr txBox="1"/>
          <p:nvPr/>
        </p:nvSpPr>
        <p:spPr>
          <a:xfrm>
            <a:off x="725846" y="2622907"/>
            <a:ext cx="61509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goalscorers.csv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date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매치 데이</a:t>
            </a:r>
            <a:endParaRPr lang="en-US" altLang="ko-KR" sz="1200" dirty="0"/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home_team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홈 팀의 이름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away_team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어웨이 팀의 이름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team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골을 넣은 팀의 이름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scorer</a:t>
            </a:r>
            <a:r>
              <a:rPr lang="ko-KR" altLang="en-US" sz="1200" dirty="0"/>
              <a:t> </a:t>
            </a:r>
            <a:r>
              <a:rPr lang="en-US" altLang="ko-KR" sz="1200" dirty="0"/>
              <a:t>– </a:t>
            </a:r>
            <a:r>
              <a:rPr lang="ko-KR" altLang="en-US" sz="1200" dirty="0"/>
              <a:t>골 득점한 선수의 이름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own_goal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자책골</a:t>
            </a:r>
            <a:r>
              <a:rPr lang="ko-KR" altLang="en-US" sz="1200" dirty="0"/>
              <a:t> 여부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penalty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패널티골</a:t>
            </a:r>
            <a:r>
              <a:rPr lang="ko-KR" altLang="en-US" sz="1200" dirty="0"/>
              <a:t> 여부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05AADF7-B7A8-E427-15E3-D5E8690E081D}"/>
              </a:ext>
            </a:extLst>
          </p:cNvPr>
          <p:cNvSpPr txBox="1"/>
          <p:nvPr/>
        </p:nvSpPr>
        <p:spPr>
          <a:xfrm>
            <a:off x="4162758" y="2554133"/>
            <a:ext cx="61509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200" dirty="0"/>
          </a:p>
          <a:p>
            <a:r>
              <a:rPr lang="ko-KR" altLang="en-US" sz="1200" dirty="0"/>
              <a:t>shootouts.csv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date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매치 데이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home_team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홈 팀의 이름</a:t>
            </a:r>
            <a:endParaRPr lang="en-US" altLang="ko-KR" sz="1200" dirty="0"/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away_team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어웨이 팀의 이름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winner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승부차기 승자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ADEAB0E-F7AB-659D-D6A4-C894910963DC}"/>
              </a:ext>
            </a:extLst>
          </p:cNvPr>
          <p:cNvSpPr txBox="1"/>
          <p:nvPr/>
        </p:nvSpPr>
        <p:spPr>
          <a:xfrm>
            <a:off x="6876780" y="2450924"/>
            <a:ext cx="53807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results.csv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ko-KR" altLang="en-US" sz="1200" b="1" dirty="0" err="1"/>
              <a:t>ㆍ</a:t>
            </a:r>
            <a:r>
              <a:rPr lang="en-US" altLang="ko-KR" sz="1200" dirty="0"/>
              <a:t>D</a:t>
            </a:r>
            <a:r>
              <a:rPr lang="ko-KR" altLang="en-US" sz="1200" dirty="0" err="1"/>
              <a:t>ate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매치 데이</a:t>
            </a:r>
          </a:p>
          <a:p>
            <a:r>
              <a:rPr lang="ko-KR" altLang="en-US" sz="1200" b="1" dirty="0" err="1"/>
              <a:t>ㆍ</a:t>
            </a:r>
            <a:r>
              <a:rPr lang="en-US" altLang="ko-KR" sz="1200" dirty="0"/>
              <a:t>H</a:t>
            </a:r>
            <a:r>
              <a:rPr lang="ko-KR" altLang="en-US" sz="1200" dirty="0" err="1"/>
              <a:t>ome_team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홈 팀의 이름</a:t>
            </a:r>
          </a:p>
          <a:p>
            <a:r>
              <a:rPr lang="ko-KR" altLang="en-US" sz="1200" b="1" dirty="0" err="1"/>
              <a:t>ㆍ</a:t>
            </a:r>
            <a:r>
              <a:rPr lang="en-US" altLang="ko-KR" sz="1200" dirty="0"/>
              <a:t>A</a:t>
            </a:r>
            <a:r>
              <a:rPr lang="ko-KR" altLang="en-US" sz="1200" dirty="0" err="1"/>
              <a:t>way_team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어웨이 팀의 이름</a:t>
            </a:r>
          </a:p>
          <a:p>
            <a:r>
              <a:rPr lang="ko-KR" altLang="en-US" sz="1200" b="1" dirty="0" err="1"/>
              <a:t>ㆍ</a:t>
            </a:r>
            <a:r>
              <a:rPr lang="en-US" altLang="ko-KR" sz="1200" dirty="0"/>
              <a:t>H</a:t>
            </a:r>
            <a:r>
              <a:rPr lang="ko-KR" altLang="en-US" sz="1200" dirty="0" err="1"/>
              <a:t>ome_score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연장전을 포함한 풀타임 홈 팀의 점수</a:t>
            </a:r>
            <a:r>
              <a:rPr lang="en-US" altLang="ko-KR" sz="1200" dirty="0"/>
              <a:t>(</a:t>
            </a:r>
            <a:r>
              <a:rPr lang="ko-KR" altLang="en-US" sz="1200" dirty="0"/>
              <a:t>승부차기 제외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r>
              <a:rPr lang="ko-KR" altLang="en-US" sz="1200" b="1" dirty="0" err="1"/>
              <a:t>ㆍ</a:t>
            </a:r>
            <a:r>
              <a:rPr lang="en-US" altLang="ko-KR" sz="1200" dirty="0"/>
              <a:t>A</a:t>
            </a:r>
            <a:r>
              <a:rPr lang="ko-KR" altLang="en-US" sz="1200" dirty="0" err="1"/>
              <a:t>way_score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연장전을 포함한 풀타임 어웨이 팀의 점수</a:t>
            </a:r>
            <a:r>
              <a:rPr lang="en-US" altLang="ko-KR" sz="1200" dirty="0"/>
              <a:t>(</a:t>
            </a:r>
            <a:r>
              <a:rPr lang="ko-KR" altLang="en-US" sz="1200" dirty="0"/>
              <a:t>승부차기 제외</a:t>
            </a:r>
            <a:r>
              <a:rPr lang="en-US" altLang="ko-KR" sz="1200" dirty="0"/>
              <a:t>)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tournament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토너먼트 네임</a:t>
            </a:r>
            <a:endParaRPr lang="en-US" altLang="ko-KR" sz="1200" dirty="0"/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city</a:t>
            </a:r>
            <a:r>
              <a:rPr lang="ko-KR" altLang="en-US" sz="1200" dirty="0"/>
              <a:t> </a:t>
            </a:r>
            <a:r>
              <a:rPr lang="en-US" altLang="ko-KR" sz="1200" dirty="0"/>
              <a:t>– </a:t>
            </a:r>
            <a:r>
              <a:rPr lang="ko-KR" altLang="en-US" sz="1200" dirty="0"/>
              <a:t>경기가 진행된 도시</a:t>
            </a:r>
            <a:r>
              <a:rPr lang="en-US" altLang="ko-KR" sz="1200" dirty="0"/>
              <a:t>, </a:t>
            </a:r>
            <a:r>
              <a:rPr lang="ko-KR" altLang="en-US" sz="1200" dirty="0"/>
              <a:t>마을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country</a:t>
            </a:r>
            <a:r>
              <a:rPr lang="ko-KR" altLang="en-US" sz="1200" dirty="0"/>
              <a:t> </a:t>
            </a:r>
            <a:r>
              <a:rPr lang="en-US" altLang="ko-KR" sz="1200" dirty="0"/>
              <a:t>– </a:t>
            </a:r>
            <a:r>
              <a:rPr lang="ko-KR" altLang="en-US" sz="1200" dirty="0"/>
              <a:t>경기가 진행된 국가</a:t>
            </a:r>
          </a:p>
          <a:p>
            <a:r>
              <a:rPr lang="ko-KR" altLang="en-US" sz="1200" b="1" dirty="0" err="1"/>
              <a:t>ㆍ</a:t>
            </a:r>
            <a:r>
              <a:rPr lang="ko-KR" altLang="en-US" sz="1200" dirty="0" err="1"/>
              <a:t>neutral</a:t>
            </a:r>
            <a:r>
              <a:rPr lang="ko-KR" altLang="en-US" sz="1200" dirty="0"/>
              <a:t> </a:t>
            </a:r>
            <a:r>
              <a:rPr lang="en-US" altLang="ko-KR" sz="1200" dirty="0"/>
              <a:t>–</a:t>
            </a:r>
            <a:r>
              <a:rPr lang="ko-KR" altLang="en-US" sz="1200" dirty="0"/>
              <a:t> 경기가 중립 장소에서 진행되었는지 여부 </a:t>
            </a:r>
            <a:r>
              <a:rPr lang="en-US" altLang="ko-KR" sz="1200" dirty="0"/>
              <a:t>(T/F)</a:t>
            </a:r>
            <a:endParaRPr lang="ko-KR" altLang="en-US" sz="12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E63EB684-6B28-E467-AFC2-7CD491A92DD5}"/>
              </a:ext>
            </a:extLst>
          </p:cNvPr>
          <p:cNvCxnSpPr>
            <a:cxnSpLocks/>
          </p:cNvCxnSpPr>
          <p:nvPr/>
        </p:nvCxnSpPr>
        <p:spPr>
          <a:xfrm>
            <a:off x="3711394" y="2011680"/>
            <a:ext cx="0" cy="29583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32ED09ED-8101-B36F-5030-1C0C68E8D25F}"/>
              </a:ext>
            </a:extLst>
          </p:cNvPr>
          <p:cNvCxnSpPr>
            <a:cxnSpLocks/>
          </p:cNvCxnSpPr>
          <p:nvPr/>
        </p:nvCxnSpPr>
        <p:spPr>
          <a:xfrm>
            <a:off x="6778663" y="2011680"/>
            <a:ext cx="0" cy="29583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7BB5CBA5-E503-CEC6-C20E-901B95A2C375}"/>
              </a:ext>
            </a:extLst>
          </p:cNvPr>
          <p:cNvCxnSpPr>
            <a:cxnSpLocks/>
          </p:cNvCxnSpPr>
          <p:nvPr/>
        </p:nvCxnSpPr>
        <p:spPr>
          <a:xfrm>
            <a:off x="-32772" y="4970035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2443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5FE5068C-3C3C-834E-9E9C-C8265141E5E6}"/>
              </a:ext>
            </a:extLst>
          </p:cNvPr>
          <p:cNvCxnSpPr>
            <a:cxnSpLocks/>
          </p:cNvCxnSpPr>
          <p:nvPr/>
        </p:nvCxnSpPr>
        <p:spPr>
          <a:xfrm>
            <a:off x="-32772" y="2015132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7D514A8-838A-CEE3-E676-8B0C88FCD90B}"/>
              </a:ext>
            </a:extLst>
          </p:cNvPr>
          <p:cNvSpPr txBox="1"/>
          <p:nvPr/>
        </p:nvSpPr>
        <p:spPr>
          <a:xfrm>
            <a:off x="2089619" y="1318452"/>
            <a:ext cx="2458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Missing value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xmlns="" id="{5FA06FAF-E097-2B9D-EB42-11BADC12A4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20953" y="2389071"/>
            <a:ext cx="3086367" cy="22557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B7AE9D1-E502-767E-DFD8-D6EC532FC4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t="13797"/>
          <a:stretch/>
        </p:blipFill>
        <p:spPr>
          <a:xfrm>
            <a:off x="7423042" y="2377278"/>
            <a:ext cx="2800350" cy="2507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95F0BD7E-B080-01AF-8B5D-E3A50803F983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DA113E2-1BF2-FA35-2095-56AEF51E4A99}"/>
              </a:ext>
            </a:extLst>
          </p:cNvPr>
          <p:cNvSpPr txBox="1"/>
          <p:nvPr/>
        </p:nvSpPr>
        <p:spPr>
          <a:xfrm>
            <a:off x="7968497" y="1353333"/>
            <a:ext cx="1709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Aggregation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094C0F9-8B10-A27A-D51F-6C116BA38B52}"/>
              </a:ext>
            </a:extLst>
          </p:cNvPr>
          <p:cNvSpPr txBox="1"/>
          <p:nvPr/>
        </p:nvSpPr>
        <p:spPr>
          <a:xfrm>
            <a:off x="2933182" y="5478091"/>
            <a:ext cx="58558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fillna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메소드를 이용해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결측치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(Missing value)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처리하였고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Home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away 2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가지 데이터 프레임을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merge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 후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Aggregation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함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42C4344-E828-1517-3B33-4D40B069E678}"/>
              </a:ext>
            </a:extLst>
          </p:cNvPr>
          <p:cNvSpPr txBox="1"/>
          <p:nvPr/>
        </p:nvSpPr>
        <p:spPr>
          <a:xfrm>
            <a:off x="2931493" y="388021"/>
            <a:ext cx="6456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Data Preprocessing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533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FIFA</a:t>
            </a:r>
            <a:r>
              <a:rPr lang="ko-KR" altLang="en-US" sz="2400" b="1" i="0" dirty="0">
                <a:solidFill>
                  <a:srgbClr val="333333"/>
                </a:solidFill>
                <a:effectLst/>
                <a:latin typeface="HY동녘B" panose="02030600000101010101" pitchFamily="18" charset="-127"/>
                <a:ea typeface="HY동녘B" panose="02030600000101010101" pitchFamily="18" charset="-127"/>
              </a:rPr>
              <a:t> 랭킹 </a:t>
            </a:r>
            <a:r>
              <a:rPr lang="en-US" altLang="ko-KR" sz="2400" b="1" i="0" dirty="0">
                <a:solidFill>
                  <a:srgbClr val="333333"/>
                </a:solidFill>
                <a:effectLst/>
                <a:latin typeface="HY동녘B" panose="02030600000101010101" pitchFamily="18" charset="-127"/>
                <a:ea typeface="HY동녘B" panose="02030600000101010101" pitchFamily="18" charset="-127"/>
              </a:rPr>
              <a:t>Top 10 </a:t>
            </a:r>
            <a:r>
              <a:rPr lang="ko-KR" altLang="en-US" sz="2400" b="1" i="0" dirty="0">
                <a:solidFill>
                  <a:srgbClr val="333333"/>
                </a:solidFill>
                <a:effectLst/>
                <a:latin typeface="HY동녘B" panose="02030600000101010101" pitchFamily="18" charset="-127"/>
                <a:ea typeface="HY동녘B" panose="02030600000101010101" pitchFamily="18" charset="-127"/>
              </a:rPr>
              <a:t>포인트 변화</a:t>
            </a:r>
            <a:r>
              <a:rPr lang="ko-KR" altLang="en-US" sz="3400" dirty="0">
                <a:latin typeface="HY동녘B" panose="02030600000101010101" pitchFamily="18" charset="-127"/>
                <a:ea typeface="HY동녘B" panose="02030600000101010101" pitchFamily="18" charset="-127"/>
              </a:rPr>
              <a:t/>
            </a:r>
            <a:br>
              <a:rPr lang="ko-KR" altLang="en-US" sz="3400" dirty="0">
                <a:latin typeface="HY동녘B" panose="02030600000101010101" pitchFamily="18" charset="-127"/>
                <a:ea typeface="HY동녘B" panose="02030600000101010101" pitchFamily="18" charset="-127"/>
              </a:rPr>
            </a:b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73122B1-8ADF-7278-561D-EAF81AEF9886}"/>
              </a:ext>
            </a:extLst>
          </p:cNvPr>
          <p:cNvSpPr txBox="1"/>
          <p:nvPr/>
        </p:nvSpPr>
        <p:spPr>
          <a:xfrm>
            <a:off x="2179663" y="5681048"/>
            <a:ext cx="7900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지난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년간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FIFA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랭킹 상위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국가의 포인트 변화량을 그래프로 도식화 해보았다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_x221639096">
            <a:extLst>
              <a:ext uri="{FF2B5EF4-FFF2-40B4-BE49-F238E27FC236}">
                <a16:creationId xmlns:a16="http://schemas.microsoft.com/office/drawing/2014/main" xmlns="" id="{73E742AB-2049-113A-3EE6-B151460A9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83676" y="882502"/>
            <a:ext cx="9292384" cy="445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08814C30-2566-F100-4316-2F1335E9A51B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4312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상위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10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개 경기 토너먼트 표본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73122B1-8ADF-7278-561D-EAF81AEF9886}"/>
              </a:ext>
            </a:extLst>
          </p:cNvPr>
          <p:cNvSpPr txBox="1"/>
          <p:nvPr/>
        </p:nvSpPr>
        <p:spPr>
          <a:xfrm>
            <a:off x="1880960" y="5681048"/>
            <a:ext cx="8497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상위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경기 토너먼트 표본을 그래프화 하였다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ctr"/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경기의 중요도에 따라 가중치 비율을 수정해야하기 때문에 굉장히 중요한 데이터 표본이다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142188048">
            <a:extLst>
              <a:ext uri="{FF2B5EF4-FFF2-40B4-BE49-F238E27FC236}">
                <a16:creationId xmlns:a16="http://schemas.microsoft.com/office/drawing/2014/main" xmlns="" id="{FBE020CE-9867-ED8E-E065-D664E7C51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98483" y="1046456"/>
            <a:ext cx="6726865" cy="391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0AA514E7-4742-B478-2286-0D4570E8D060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9591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 err="1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매치별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 평균 득점 상위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10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위 팀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29C9C8C-C6EA-034E-91B7-D5331D027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056" y="585620"/>
            <a:ext cx="29340943" cy="103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5" name="_x142186048">
            <a:extLst>
              <a:ext uri="{FF2B5EF4-FFF2-40B4-BE49-F238E27FC236}">
                <a16:creationId xmlns:a16="http://schemas.microsoft.com/office/drawing/2014/main" xmlns="" id="{3D080FEC-C7FE-0153-4660-54E24D2FE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71057" y="1042821"/>
            <a:ext cx="6988376" cy="446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533CB2-AF0C-7068-975A-7524D520E2A8}"/>
              </a:ext>
            </a:extLst>
          </p:cNvPr>
          <p:cNvSpPr txBox="1"/>
          <p:nvPr/>
        </p:nvSpPr>
        <p:spPr>
          <a:xfrm>
            <a:off x="239836" y="5512620"/>
            <a:ext cx="114441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매치별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평균 득점 상위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위 팀을 그래프화 하였다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ctr"/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두 팀 이상이 다득점까지 같을 경우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해당 팀 간 경기에서의 승점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골득실차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다득점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조별리그 전체 경기에서의 페어플레이 점수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추첨 순으로 순위를 결정 짓는다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6D8D94E6-14DD-6EE8-E011-416D71371C20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4430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73122B1-8ADF-7278-561D-EAF81AEF9886}"/>
              </a:ext>
            </a:extLst>
          </p:cNvPr>
          <p:cNvSpPr txBox="1"/>
          <p:nvPr/>
        </p:nvSpPr>
        <p:spPr>
          <a:xfrm>
            <a:off x="2906623" y="5681048"/>
            <a:ext cx="64465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골 수 상위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위 팀을 그래프로 도식화 해보았다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ctr"/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FIFA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랭킹 상위 팀들 대다수가 상위권을 차지한 점을 확인할 수 있다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BF9E8D5-AEAE-E18E-2AB8-1771010E5B8F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골 수 상위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10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위 팀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7198B38-30CF-79B3-4D07-1CA898900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125" y="130512"/>
            <a:ext cx="25222847" cy="82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9" name="_x201839920">
            <a:extLst>
              <a:ext uri="{FF2B5EF4-FFF2-40B4-BE49-F238E27FC236}">
                <a16:creationId xmlns:a16="http://schemas.microsoft.com/office/drawing/2014/main" xmlns="" id="{7D79D25B-AD7D-A130-693D-D564B4F2E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32567" y="1185744"/>
            <a:ext cx="5987143" cy="4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D0C8A3CF-E640-A8F4-1E86-770E89CA7C87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6871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Heat map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B8B538F-DF15-3782-5D87-A867C556F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11" y="289888"/>
            <a:ext cx="20361715" cy="52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217" name="_x221636696">
            <a:extLst>
              <a:ext uri="{FF2B5EF4-FFF2-40B4-BE49-F238E27FC236}">
                <a16:creationId xmlns:a16="http://schemas.microsoft.com/office/drawing/2014/main" xmlns="" id="{4F788D56-2442-3D7A-CFDD-637CDB0FE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31532" y="999066"/>
            <a:ext cx="6066959" cy="485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5893FF4-D4DE-95C7-B209-55868997DDE9}"/>
              </a:ext>
            </a:extLst>
          </p:cNvPr>
          <p:cNvSpPr txBox="1"/>
          <p:nvPr/>
        </p:nvSpPr>
        <p:spPr>
          <a:xfrm>
            <a:off x="3495535" y="5857710"/>
            <a:ext cx="4932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Heat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데이터 프레임의 상관계수를 표시함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색이 밝을 수록 상관계수가 높음을 의미한다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xmlns="" id="{FC4D89AD-3643-E3AC-15DB-C2F4CC98518C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3643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레이저, 밤하늘이(가) 표시된 사진&#10;&#10;자동 생성된 설명">
            <a:extLst>
              <a:ext uri="{FF2B5EF4-FFF2-40B4-BE49-F238E27FC236}">
                <a16:creationId xmlns:a16="http://schemas.microsoft.com/office/drawing/2014/main" xmlns="" id="{19A3EA65-D011-98E2-D64E-0800600567D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3B67D2D9-2C63-6EB5-9A73-C1C23159E0C8}"/>
              </a:ext>
            </a:extLst>
          </p:cNvPr>
          <p:cNvSpPr/>
          <p:nvPr/>
        </p:nvSpPr>
        <p:spPr>
          <a:xfrm>
            <a:off x="7660" y="-81648"/>
            <a:ext cx="12191999" cy="709913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C5CCF9F-756B-2044-2D8C-ED1C234A11C1}"/>
              </a:ext>
            </a:extLst>
          </p:cNvPr>
          <p:cNvSpPr txBox="1"/>
          <p:nvPr/>
        </p:nvSpPr>
        <p:spPr>
          <a:xfrm>
            <a:off x="3125058" y="2877309"/>
            <a:ext cx="5941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</a:rPr>
              <a:t>2. Features</a:t>
            </a:r>
            <a:r>
              <a:rPr lang="ko-KR" altLang="en-US" sz="4000" b="1" dirty="0">
                <a:solidFill>
                  <a:schemeClr val="bg1"/>
                </a:solidFill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</a:rPr>
              <a:t>Engineering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4577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xmlns="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 descr="feature engineering">
            <a:extLst>
              <a:ext uri="{FF2B5EF4-FFF2-40B4-BE49-F238E27FC236}">
                <a16:creationId xmlns:a16="http://schemas.microsoft.com/office/drawing/2014/main" xmlns="" id="{4D2943B7-C901-E3A8-F40D-C495336B7C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64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7300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xmlns="" id="{0350DB20-CEC6-A75C-E5EB-365E08387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81225" y="1174566"/>
            <a:ext cx="7829550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CA51D20-7A58-DB00-F351-C86694A732DE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Features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Engineering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을 하는 이유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4FBF3ADF-F5B2-C646-DB2A-59259142132E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8186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CA51D20-7A58-DB00-F351-C86694A732DE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Features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4FBF3ADF-F5B2-C646-DB2A-59259142132E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6C7852D9-1E11-3D00-514D-9B0A4399095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3100" y="1538960"/>
            <a:ext cx="8305800" cy="2295525"/>
          </a:xfrm>
          <a:prstGeom prst="rect">
            <a:avLst/>
          </a:prstGeom>
        </p:spPr>
      </p:pic>
      <p:sp>
        <p:nvSpPr>
          <p:cNvPr id="6" name="화살표: 오른쪽 17">
            <a:extLst>
              <a:ext uri="{FF2B5EF4-FFF2-40B4-BE49-F238E27FC236}">
                <a16:creationId xmlns:a16="http://schemas.microsoft.com/office/drawing/2014/main" xmlns="" id="{E1D2EF89-7F78-0A7A-B96B-8F23CF85BE47}"/>
              </a:ext>
            </a:extLst>
          </p:cNvPr>
          <p:cNvSpPr/>
          <p:nvPr/>
        </p:nvSpPr>
        <p:spPr>
          <a:xfrm>
            <a:off x="4707776" y="5645214"/>
            <a:ext cx="505610" cy="19799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EA19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0048CAA-7144-05E5-09FC-33F563F6D1B3}"/>
              </a:ext>
            </a:extLst>
          </p:cNvPr>
          <p:cNvSpPr txBox="1"/>
          <p:nvPr/>
        </p:nvSpPr>
        <p:spPr>
          <a:xfrm>
            <a:off x="2897125" y="4657945"/>
            <a:ext cx="6616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새롭게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Mapping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된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Features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사용하여 유연하게 계산할 수 있게 됨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1CFB7D1-228C-56A6-4E42-D3D81E5A55BC}"/>
              </a:ext>
            </a:extLst>
          </p:cNvPr>
          <p:cNvSpPr txBox="1"/>
          <p:nvPr/>
        </p:nvSpPr>
        <p:spPr>
          <a:xfrm>
            <a:off x="5213386" y="5574933"/>
            <a:ext cx="17652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</a:rPr>
              <a:t>모델의 성능 향상</a:t>
            </a:r>
            <a:endParaRPr lang="en-US" altLang="ko-KR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4828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다층 신경망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73122B1-8ADF-7278-561D-EAF81AEF9886}"/>
              </a:ext>
            </a:extLst>
          </p:cNvPr>
          <p:cNvSpPr txBox="1"/>
          <p:nvPr/>
        </p:nvSpPr>
        <p:spPr>
          <a:xfrm>
            <a:off x="2343145" y="5681048"/>
            <a:ext cx="75734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사이킷런을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사용하여 다층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퍼셉트론을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구성하였다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ctr"/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은닉층은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경사하강법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알고리즘은 </a:t>
            </a:r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lbfgs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에포크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횟수는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500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으로 설정하였다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A9A5E9A-4D5B-AF25-4566-3817BDB812A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32698" y="2320817"/>
            <a:ext cx="5629275" cy="1933575"/>
          </a:xfrm>
          <a:prstGeom prst="rect">
            <a:avLst/>
          </a:prstGeom>
        </p:spPr>
      </p:pic>
      <p:pic>
        <p:nvPicPr>
          <p:cNvPr id="1026" name="Picture 2" descr="Scikit-Learn - Neural Network">
            <a:extLst>
              <a:ext uri="{FF2B5EF4-FFF2-40B4-BE49-F238E27FC236}">
                <a16:creationId xmlns:a16="http://schemas.microsoft.com/office/drawing/2014/main" xmlns="" id="{85EDFC33-41F2-56E2-A2B0-B935BCC84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7858" y="1148331"/>
            <a:ext cx="4793560" cy="427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75828238-3505-8C84-ADCA-3F96B6B5E956}"/>
              </a:ext>
            </a:extLst>
          </p:cNvPr>
          <p:cNvCxnSpPr>
            <a:cxnSpLocks/>
          </p:cNvCxnSpPr>
          <p:nvPr/>
        </p:nvCxnSpPr>
        <p:spPr>
          <a:xfrm>
            <a:off x="0" y="988057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6576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모델 훈련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5AA7E4F-26EF-ACA8-874D-C16324061C5A}"/>
              </a:ext>
            </a:extLst>
          </p:cNvPr>
          <p:cNvSpPr txBox="1"/>
          <p:nvPr/>
        </p:nvSpPr>
        <p:spPr>
          <a:xfrm>
            <a:off x="1888571" y="5528648"/>
            <a:ext cx="82066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객체를 생성한 후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fit()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메소드로 훈련하고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score()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메소드로 정확도를 평가한다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algn="ctr"/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Predict()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메소드는 새로운 샘플에 대한 분류 결과를 예측한다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77491A7-84B4-5F32-4BBD-7F9724A264D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66995" y="1331593"/>
            <a:ext cx="4989841" cy="404824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83F35357-E1A2-C1FB-7683-F4405C350E4C}"/>
              </a:ext>
            </a:extLst>
          </p:cNvPr>
          <p:cNvCxnSpPr>
            <a:cxnSpLocks/>
          </p:cNvCxnSpPr>
          <p:nvPr/>
        </p:nvCxnSpPr>
        <p:spPr>
          <a:xfrm>
            <a:off x="0" y="1009829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9121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F952B36-7E1A-3A42-A23B-97EA4F94704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127" y="1748832"/>
            <a:ext cx="10115550" cy="676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A13A0091-E070-89FB-9ACD-5B40322D919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2127" y="2668328"/>
            <a:ext cx="9982200" cy="647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0892D9ED-9EAD-3D06-5D9F-01725D3DA7B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22127" y="3703009"/>
            <a:ext cx="9972675" cy="5905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DB161DBF-CAC4-1968-B363-E343BDE7B3D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8390" y="4680540"/>
            <a:ext cx="10572750" cy="571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9B07238-C776-D598-4832-2F4CA5B5EB09}"/>
              </a:ext>
            </a:extLst>
          </p:cNvPr>
          <p:cNvSpPr txBox="1"/>
          <p:nvPr/>
        </p:nvSpPr>
        <p:spPr>
          <a:xfrm>
            <a:off x="1877939" y="249755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모델 훈련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FAAA2C8E-0780-723A-7621-05BD1304BCBA}"/>
              </a:ext>
            </a:extLst>
          </p:cNvPr>
          <p:cNvCxnSpPr>
            <a:cxnSpLocks/>
          </p:cNvCxnSpPr>
          <p:nvPr/>
        </p:nvCxnSpPr>
        <p:spPr>
          <a:xfrm>
            <a:off x="0" y="976412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0B131B1-CCC8-425B-2052-09B7AAB510C6}"/>
              </a:ext>
            </a:extLst>
          </p:cNvPr>
          <p:cNvSpPr txBox="1"/>
          <p:nvPr/>
        </p:nvSpPr>
        <p:spPr>
          <a:xfrm>
            <a:off x="2084635" y="5712311"/>
            <a:ext cx="793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가지 모델을 생성하여 어느 모델이 정확도가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높은지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카파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계수로 확인하고자 한다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237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34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Cohen’s kappa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4BB8397-E83C-0D61-A871-B85372A38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257" y="74724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782852E-10EA-6F20-953A-3FFAD07D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542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36851DE9-F0DA-3036-B2AF-843F1EEFE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056618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46F16DFC-7E78-87D2-6D56-EDB4F9B1B231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03AB62E-F57A-6680-3B84-7EC06A1E5D08}"/>
              </a:ext>
            </a:extLst>
          </p:cNvPr>
          <p:cNvSpPr txBox="1"/>
          <p:nvPr/>
        </p:nvSpPr>
        <p:spPr>
          <a:xfrm>
            <a:off x="3082762" y="5744210"/>
            <a:ext cx="5758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두 관찰자 간의 측정 범주 값에 대한 일치도를 측정하는 방법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91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xmlns="" id="{52CAB794-7B36-6A04-705B-00939A0F43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839788" y="2783122"/>
            <a:ext cx="5157787" cy="3128493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xmlns="" id="{190E2D84-EA50-488A-EF68-1A6C9C217D5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 cstate="print"/>
          <a:stretch>
            <a:fillRect/>
          </a:stretch>
        </p:blipFill>
        <p:spPr>
          <a:xfrm>
            <a:off x="6194427" y="2783122"/>
            <a:ext cx="5183188" cy="3293664"/>
          </a:xfr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BB2FCE41-9465-AEBD-680A-E9B8753B1F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298708" y="1474692"/>
            <a:ext cx="974626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MLPClassifier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A95407B8-3DFB-AA74-CCB4-2DE58A2C7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57442" y="1382359"/>
            <a:ext cx="1322477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LogisticRegression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F2338CC-F58D-E499-53C2-1F3AC2B7CE97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모델 훈련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71F4D750-E53F-9285-AD7D-DEA59978AE45}"/>
              </a:ext>
            </a:extLst>
          </p:cNvPr>
          <p:cNvCxnSpPr>
            <a:cxnSpLocks/>
          </p:cNvCxnSpPr>
          <p:nvPr/>
        </p:nvCxnSpPr>
        <p:spPr>
          <a:xfrm>
            <a:off x="-32772" y="1943474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9D76FFB5-E31C-F8E4-E197-71C00911332D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8893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BB2FCE41-9465-AEBD-680A-E9B8753B1F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360426" y="1474692"/>
            <a:ext cx="851195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Lightbm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lgb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A95407B8-3DFB-AA74-CCB4-2DE58A2C7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96347" y="1382359"/>
            <a:ext cx="1644682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RandomForestClassifier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F2338CC-F58D-E499-53C2-1F3AC2B7CE97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모델 훈련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71F4D750-E53F-9285-AD7D-DEA59978AE45}"/>
              </a:ext>
            </a:extLst>
          </p:cNvPr>
          <p:cNvCxnSpPr>
            <a:cxnSpLocks/>
          </p:cNvCxnSpPr>
          <p:nvPr/>
        </p:nvCxnSpPr>
        <p:spPr>
          <a:xfrm>
            <a:off x="-32772" y="1943475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내용 개체 틀 14">
            <a:extLst>
              <a:ext uri="{FF2B5EF4-FFF2-40B4-BE49-F238E27FC236}">
                <a16:creationId xmlns:a16="http://schemas.microsoft.com/office/drawing/2014/main" xmlns="" id="{815EA944-61BD-9304-80E6-C0F0EACC430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9788" y="2685511"/>
            <a:ext cx="5157787" cy="3323715"/>
          </a:xfrm>
          <a:prstGeom prst="rect">
            <a:avLst/>
          </a:prstGeom>
        </p:spPr>
      </p:pic>
      <p:pic>
        <p:nvPicPr>
          <p:cNvPr id="14" name="내용 개체 틀 19">
            <a:extLst>
              <a:ext uri="{FF2B5EF4-FFF2-40B4-BE49-F238E27FC236}">
                <a16:creationId xmlns:a16="http://schemas.microsoft.com/office/drawing/2014/main" xmlns="" id="{8C8C6F74-87CE-1809-7D78-5CE2E2548B3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72200" y="2728158"/>
            <a:ext cx="5183188" cy="3238421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1B9B19A2-F02B-42E0-00C3-C5DFA6955E97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305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ROC curve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4BB8397-E83C-0D61-A871-B85372A38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257" y="74724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782852E-10EA-6F20-953A-3FFAD07D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542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100" name="Picture 4" descr="ROC curve - 공돌이의 수학정리노트">
            <a:extLst>
              <a:ext uri="{FF2B5EF4-FFF2-40B4-BE49-F238E27FC236}">
                <a16:creationId xmlns:a16="http://schemas.microsoft.com/office/drawing/2014/main" xmlns="" id="{9F0F6F38-78C0-BFB3-D9D8-4F52E8C36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3094" y="1186951"/>
            <a:ext cx="4617644" cy="4366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xmlns="" id="{4526E9B2-011D-788C-9337-4D5EAAF0C443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BAA53CD-FDE4-0426-670A-30AC0D776E84}"/>
              </a:ext>
            </a:extLst>
          </p:cNvPr>
          <p:cNvSpPr txBox="1"/>
          <p:nvPr/>
        </p:nvSpPr>
        <p:spPr>
          <a:xfrm>
            <a:off x="1502659" y="5553900"/>
            <a:ext cx="9186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 Curve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머신러닝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모델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(classifier)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 좋은 성능을 보이는지 판단할 때 사용할 수 있다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이때 좌상단으로 가장 많이 치우친 그래프를 갖는 모델이 가장 높은 성능을 보인다고 할 수 있다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955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ROC curve </a:t>
            </a:r>
            <a:r>
              <a:rPr lang="ko-KR" altLang="en-US" sz="3400" b="1">
                <a:solidFill>
                  <a:schemeClr val="tx1">
                    <a:lumMod val="75000"/>
                    <a:lumOff val="25000"/>
                  </a:schemeClr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분석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4BB8397-E83C-0D61-A871-B85372A38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257" y="74724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14307704">
            <a:extLst>
              <a:ext uri="{FF2B5EF4-FFF2-40B4-BE49-F238E27FC236}">
                <a16:creationId xmlns:a16="http://schemas.microsoft.com/office/drawing/2014/main" xmlns="" id="{6112286D-59B7-98E5-15F1-A8740D63C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34" y="1682438"/>
            <a:ext cx="2804400" cy="200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782852E-10EA-6F20-953A-3FFAD07D8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7542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223240360">
            <a:extLst>
              <a:ext uri="{FF2B5EF4-FFF2-40B4-BE49-F238E27FC236}">
                <a16:creationId xmlns:a16="http://schemas.microsoft.com/office/drawing/2014/main" xmlns="" id="{812D0F16-6DBE-10C0-DA8F-33390D7F0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33" y="3820396"/>
            <a:ext cx="2638840" cy="2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0300EBEA-D7B3-BD7C-8629-D4AB8D520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2924" y="1926152"/>
            <a:ext cx="2805781" cy="202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xmlns="" id="{CEC40DD5-4682-9F7F-1DEB-F76C7D291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72342" y="3904268"/>
            <a:ext cx="2647315" cy="207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xmlns="" id="{8883514B-AF61-7F66-045A-1883A8782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91346" y="1615913"/>
            <a:ext cx="2804193" cy="20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xmlns="" id="{A7BF9797-831F-6715-2E2A-E89358587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730134" y="3946896"/>
            <a:ext cx="2703532" cy="2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xmlns="" id="{AE4F056C-9611-C012-E93F-69DDDFB18BB6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9C0801F-73D3-0667-2EAE-EEA1D4B8E50B}"/>
              </a:ext>
            </a:extLst>
          </p:cNvPr>
          <p:cNvSpPr txBox="1"/>
          <p:nvPr/>
        </p:nvSpPr>
        <p:spPr>
          <a:xfrm>
            <a:off x="491149" y="6240835"/>
            <a:ext cx="11551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높은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sensitivity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높은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specificity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보이는 모델을 고르기 위해 앞서 비교한 다양한 모델에 대해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ROC curve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그려보았다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xmlns="" id="{BE015744-0D38-D9BA-ED12-344E4C29A7B3}"/>
              </a:ext>
            </a:extLst>
          </p:cNvPr>
          <p:cNvCxnSpPr>
            <a:cxnSpLocks/>
          </p:cNvCxnSpPr>
          <p:nvPr/>
        </p:nvCxnSpPr>
        <p:spPr>
          <a:xfrm>
            <a:off x="0" y="1473548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2">
            <a:extLst>
              <a:ext uri="{FF2B5EF4-FFF2-40B4-BE49-F238E27FC236}">
                <a16:creationId xmlns:a16="http://schemas.microsoft.com/office/drawing/2014/main" xmlns="" id="{B4B895A3-FB29-ECF6-4E67-7D1E43337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995" y="1133975"/>
            <a:ext cx="1322477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00000"/>
              </a:lnSpc>
              <a:buFontTx/>
              <a:buNone/>
            </a:pPr>
            <a:r>
              <a:rPr lang="ko-KR" altLang="ko-KR" dirty="0" err="1"/>
              <a:t>LogisticRegression</a:t>
            </a:r>
            <a:r>
              <a:rPr lang="ko-KR" altLang="ko-KR" sz="800" dirty="0"/>
              <a:t> </a:t>
            </a:r>
            <a:endParaRPr lang="ko-KR" altLang="ko-KR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561F33B4-500B-5DEA-EA8D-B52D4149B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399" y="1149313"/>
            <a:ext cx="1487010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00000"/>
              </a:lnSpc>
              <a:buFontTx/>
              <a:buNone/>
            </a:pPr>
            <a:r>
              <a:rPr lang="en-US" altLang="ko-KR" dirty="0" err="1">
                <a:latin typeface="+mn-lt"/>
              </a:rPr>
              <a:t>DecisionTreeClassifier</a:t>
            </a:r>
            <a:endParaRPr lang="ko-KR" altLang="ko-KR" dirty="0">
              <a:latin typeface="+mn-l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B6C56020-D2FD-50C2-6A58-781F89FEC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802" y="1153747"/>
            <a:ext cx="986297" cy="18466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00000"/>
              </a:lnSpc>
              <a:buFontTx/>
              <a:buNone/>
            </a:pPr>
            <a:r>
              <a:rPr lang="en-US" altLang="ko-KR" dirty="0">
                <a:latin typeface="+mn-lt"/>
              </a:rPr>
              <a:t>MLP Classifier</a:t>
            </a:r>
            <a:endParaRPr lang="ko-KR" altLang="ko-K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139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351DDC8B-AEBF-0FD7-871D-059A72A96D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860" b="415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408A9C0A-E1AB-4EEE-168B-616543F4F917}"/>
              </a:ext>
            </a:extLst>
          </p:cNvPr>
          <p:cNvSpPr/>
          <p:nvPr/>
        </p:nvSpPr>
        <p:spPr>
          <a:xfrm>
            <a:off x="7660" y="-81648"/>
            <a:ext cx="12191999" cy="709913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0BEBEB2-2756-7D27-437C-0EF2DCC39874}"/>
              </a:ext>
            </a:extLst>
          </p:cNvPr>
          <p:cNvSpPr txBox="1"/>
          <p:nvPr/>
        </p:nvSpPr>
        <p:spPr>
          <a:xfrm>
            <a:off x="4403780" y="2888067"/>
            <a:ext cx="40991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</a:rPr>
              <a:t>3. Data Analysis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687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5FE5068C-3C3C-834E-9E9C-C8265141E5E6}"/>
              </a:ext>
            </a:extLst>
          </p:cNvPr>
          <p:cNvCxnSpPr>
            <a:cxnSpLocks/>
          </p:cNvCxnSpPr>
          <p:nvPr/>
        </p:nvCxnSpPr>
        <p:spPr>
          <a:xfrm>
            <a:off x="-32772" y="2015132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7D514A8-838A-CEE3-E676-8B0C88FCD90B}"/>
              </a:ext>
            </a:extLst>
          </p:cNvPr>
          <p:cNvSpPr txBox="1"/>
          <p:nvPr/>
        </p:nvSpPr>
        <p:spPr>
          <a:xfrm>
            <a:off x="4996609" y="1279768"/>
            <a:ext cx="2326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그룹스테이지 예측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95F0BD7E-B080-01AF-8B5D-E3A50803F983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42C4344-E828-1517-3B33-4D40B069E678}"/>
              </a:ext>
            </a:extLst>
          </p:cNvPr>
          <p:cNvSpPr txBox="1"/>
          <p:nvPr/>
        </p:nvSpPr>
        <p:spPr>
          <a:xfrm>
            <a:off x="2931493" y="388021"/>
            <a:ext cx="6456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WC</a:t>
            </a:r>
            <a:r>
              <a:rPr lang="ko-KR" altLang="en-US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Simulation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pic>
        <p:nvPicPr>
          <p:cNvPr id="4" name="_x204573688">
            <a:extLst>
              <a:ext uri="{FF2B5EF4-FFF2-40B4-BE49-F238E27FC236}">
                <a16:creationId xmlns:a16="http://schemas.microsoft.com/office/drawing/2014/main" xmlns="" id="{C18C5AF9-DB7E-C3D7-7019-76D2D8C21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98009" y="2824499"/>
            <a:ext cx="2894013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_x214308024">
            <a:extLst>
              <a:ext uri="{FF2B5EF4-FFF2-40B4-BE49-F238E27FC236}">
                <a16:creationId xmlns:a16="http://schemas.microsoft.com/office/drawing/2014/main" xmlns="" id="{FA4B2A66-DF19-E57A-C930-5CF3F1103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78837" y="2824499"/>
            <a:ext cx="2894013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6034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5FE5068C-3C3C-834E-9E9C-C8265141E5E6}"/>
              </a:ext>
            </a:extLst>
          </p:cNvPr>
          <p:cNvCxnSpPr>
            <a:cxnSpLocks/>
          </p:cNvCxnSpPr>
          <p:nvPr/>
        </p:nvCxnSpPr>
        <p:spPr>
          <a:xfrm>
            <a:off x="-32772" y="2015132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7D514A8-838A-CEE3-E676-8B0C88FCD90B}"/>
              </a:ext>
            </a:extLst>
          </p:cNvPr>
          <p:cNvSpPr txBox="1"/>
          <p:nvPr/>
        </p:nvSpPr>
        <p:spPr>
          <a:xfrm>
            <a:off x="5253090" y="1279768"/>
            <a:ext cx="1813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토너먼트 예측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95F0BD7E-B080-01AF-8B5D-E3A50803F983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42C4344-E828-1517-3B33-4D40B069E678}"/>
              </a:ext>
            </a:extLst>
          </p:cNvPr>
          <p:cNvSpPr txBox="1"/>
          <p:nvPr/>
        </p:nvSpPr>
        <p:spPr>
          <a:xfrm>
            <a:off x="2931493" y="388021"/>
            <a:ext cx="6456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WC</a:t>
            </a:r>
            <a:r>
              <a:rPr lang="ko-KR" altLang="en-US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Simulation</a:t>
            </a: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pic>
        <p:nvPicPr>
          <p:cNvPr id="3" name="_x201838720">
            <a:extLst>
              <a:ext uri="{FF2B5EF4-FFF2-40B4-BE49-F238E27FC236}">
                <a16:creationId xmlns:a16="http://schemas.microsoft.com/office/drawing/2014/main" xmlns="" id="{2B2CCA95-1485-4EE9-A2E5-3B8A1DB0C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42368" y="2672932"/>
            <a:ext cx="4288178" cy="35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8399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토너먼트 예측 및 시각화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09EA9DF-3DE6-A4C1-122A-CE207083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258" y="9579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E8D0587B-7653-258B-D9DE-D98246CE8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764" y="1247544"/>
            <a:ext cx="18065387" cy="64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3210371-5A82-52F6-A91E-6CAB19A6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811" y="133109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4337" name="_x142184688">
            <a:extLst>
              <a:ext uri="{FF2B5EF4-FFF2-40B4-BE49-F238E27FC236}">
                <a16:creationId xmlns:a16="http://schemas.microsoft.com/office/drawing/2014/main" xmlns="" id="{BD2168BC-70FF-A571-B7C8-44635DEB9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60730" y="740276"/>
            <a:ext cx="6598703" cy="616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4510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BE1592F-866E-8D89-136A-E2519C5E9E5D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시연 영상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3D0839B-0103-4CD9-9777-801AC19C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567" y="584791"/>
            <a:ext cx="20022565" cy="7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09EA9DF-3DE6-A4C1-122A-CE207083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258" y="9579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E8D0587B-7653-258B-D9DE-D98246CE8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764" y="1247544"/>
            <a:ext cx="18065387" cy="64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3210371-5A82-52F6-A91E-6CAB19A6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811" y="133109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07D7AD1-A7B0-6553-E32E-978EBC6F233B}"/>
              </a:ext>
            </a:extLst>
          </p:cNvPr>
          <p:cNvSpPr txBox="1"/>
          <p:nvPr/>
        </p:nvSpPr>
        <p:spPr>
          <a:xfrm>
            <a:off x="3166946" y="5809785"/>
            <a:ext cx="6746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hlinkClick r:id="rId3"/>
              </a:rPr>
              <a:t>https://www.youtube.com/watch?v=iW-YzWqpWqI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25766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F26B06-E62C-2409-336D-AD315BACBB8C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결론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B9FDF7B5-9729-18D8-255B-B6F32F790EF8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998A084-8DCC-60C4-4AB7-AD01B653887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93858" y="1367139"/>
            <a:ext cx="4736116" cy="40497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57076FF-667A-F819-A5A1-219E265FF28D}"/>
              </a:ext>
            </a:extLst>
          </p:cNvPr>
          <p:cNvSpPr txBox="1"/>
          <p:nvPr/>
        </p:nvSpPr>
        <p:spPr>
          <a:xfrm>
            <a:off x="1182635" y="5739433"/>
            <a:ext cx="9826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기계학습으로 월드컵을 예측하기엔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축구 성적과 관련한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여 개 남짓한 데이터로는 설명할 수 없는 </a:t>
            </a:r>
            <a:r>
              <a:rPr lang="ko-KR" altLang="en-US" sz="1600" b="1" dirty="0">
                <a:solidFill>
                  <a:srgbClr val="FF0000"/>
                </a:solidFill>
              </a:rPr>
              <a:t>복잡한 요인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들과 </a:t>
            </a:r>
            <a:r>
              <a:rPr lang="ko-KR" altLang="en-US" sz="1600" b="1" dirty="0">
                <a:solidFill>
                  <a:srgbClr val="FF0000"/>
                </a:solidFill>
              </a:rPr>
              <a:t>돌발상황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들이 </a:t>
            </a:r>
            <a:r>
              <a:rPr lang="ko-KR" altLang="en-US" sz="1600" b="1" dirty="0">
                <a:solidFill>
                  <a:srgbClr val="FF0000"/>
                </a:solidFill>
              </a:rPr>
              <a:t>존재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967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F26B06-E62C-2409-336D-AD315BACBB8C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활용 가능한 분야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- </a:t>
            </a:r>
            <a:r>
              <a:rPr lang="ko-KR" altLang="en-US" sz="2400" b="1" dirty="0" err="1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스포츠토토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B9FDF7B5-9729-18D8-255B-B6F32F790EF8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8C34274D-DEC2-D6CC-04BE-F41A4022B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750"/>
          <a:stretch/>
        </p:blipFill>
        <p:spPr bwMode="auto">
          <a:xfrm>
            <a:off x="0" y="1148750"/>
            <a:ext cx="12192000" cy="5709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06785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F26B06-E62C-2409-336D-AD315BACBB8C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활용 가능한 분야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– 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선수 부상 예측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B9FDF7B5-9729-18D8-255B-B6F32F790EF8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AI for predicting injury risk in various sports">
            <a:extLst>
              <a:ext uri="{FF2B5EF4-FFF2-40B4-BE49-F238E27FC236}">
                <a16:creationId xmlns:a16="http://schemas.microsoft.com/office/drawing/2014/main" xmlns="" id="{EB3D90BF-D66A-EA5C-C40C-A363577A6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07738" y="1195630"/>
            <a:ext cx="4670431" cy="4466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84B39BC-6317-594F-8EF8-18B7E781E18C}"/>
              </a:ext>
            </a:extLst>
          </p:cNvPr>
          <p:cNvSpPr txBox="1"/>
          <p:nvPr/>
        </p:nvSpPr>
        <p:spPr>
          <a:xfrm>
            <a:off x="1579100" y="6039348"/>
            <a:ext cx="845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세계 최고의 클럽 중 하나인 스페인의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FC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바르셀로나가 이탈리아 연구진과 협력해 만든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528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F26B06-E62C-2409-336D-AD315BACBB8C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활용 가능한 분야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– AI 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코칭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B9FDF7B5-9729-18D8-255B-B6F32F790EF8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84B39BC-6317-594F-8EF8-18B7E781E18C}"/>
              </a:ext>
            </a:extLst>
          </p:cNvPr>
          <p:cNvSpPr txBox="1"/>
          <p:nvPr/>
        </p:nvSpPr>
        <p:spPr>
          <a:xfrm>
            <a:off x="1469307" y="6039348"/>
            <a:ext cx="8675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독일 대표팀의 성공사례 이후 리버풀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첼시를 비롯한 유럽 축구 빅리그서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선수 코칭 열풍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4" name="Picture 2" descr="(사진=SAP)">
            <a:extLst>
              <a:ext uri="{FF2B5EF4-FFF2-40B4-BE49-F238E27FC236}">
                <a16:creationId xmlns:a16="http://schemas.microsoft.com/office/drawing/2014/main" xmlns="" id="{794F18C4-238C-6A79-55FB-25F97A553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1440" y="1148751"/>
            <a:ext cx="8031480" cy="431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45062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F26B06-E62C-2409-336D-AD315BACBB8C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활용 가능한 분야 </a:t>
            </a:r>
            <a:r>
              <a:rPr lang="en-US" altLang="ko-KR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– AI </a:t>
            </a:r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코칭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B9FDF7B5-9729-18D8-255B-B6F32F790EF8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84B39BC-6317-594F-8EF8-18B7E781E18C}"/>
              </a:ext>
            </a:extLst>
          </p:cNvPr>
          <p:cNvSpPr txBox="1"/>
          <p:nvPr/>
        </p:nvSpPr>
        <p:spPr>
          <a:xfrm>
            <a:off x="1154330" y="6039348"/>
            <a:ext cx="930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패널티킥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성공률을 높이는 골 방향 추정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선수 교체 타이밍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상대팀의 전술에 따른 플레이 방식 예측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98" name="Picture 2" descr="(사진=딥마인드 공식블로그)">
            <a:extLst>
              <a:ext uri="{FF2B5EF4-FFF2-40B4-BE49-F238E27FC236}">
                <a16:creationId xmlns:a16="http://schemas.microsoft.com/office/drawing/2014/main" xmlns="" id="{1FC13DED-E1BF-96EF-2D43-EF3612D0F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14924" y="1081601"/>
            <a:ext cx="5984537" cy="482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8737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xmlns="" id="{C5320CB9-E836-615C-6435-53555A40DD4E}"/>
              </a:ext>
            </a:extLst>
          </p:cNvPr>
          <p:cNvSpPr/>
          <p:nvPr/>
        </p:nvSpPr>
        <p:spPr>
          <a:xfrm>
            <a:off x="1439917" y="1949798"/>
            <a:ext cx="1103586" cy="32582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유환인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39369316-3A8B-7B66-B074-6CE42E88CF02}"/>
              </a:ext>
            </a:extLst>
          </p:cNvPr>
          <p:cNvSpPr/>
          <p:nvPr/>
        </p:nvSpPr>
        <p:spPr>
          <a:xfrm>
            <a:off x="1439917" y="4403448"/>
            <a:ext cx="1103586" cy="32582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이장연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AC29809-96D6-024A-BCB8-1FF88A9F8ECA}"/>
              </a:ext>
            </a:extLst>
          </p:cNvPr>
          <p:cNvSpPr txBox="1"/>
          <p:nvPr/>
        </p:nvSpPr>
        <p:spPr>
          <a:xfrm>
            <a:off x="2822563" y="1876228"/>
            <a:ext cx="8171257" cy="171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“평소 즐겨보던 월드컵을 즐기면서 기계학습도 같이 학습할 수 있어서 배로 즐거운 프로젝트였다</a:t>
            </a:r>
            <a:r>
              <a:rPr lang="en-US" altLang="ko-KR" sz="1200" dirty="0"/>
              <a:t>. </a:t>
            </a:r>
            <a:r>
              <a:rPr lang="ko-KR" altLang="en-US" sz="1200" dirty="0"/>
              <a:t>딥러닝 프로젝트때 부족하다 느꼈던 </a:t>
            </a:r>
            <a:r>
              <a:rPr lang="en-US" altLang="ko-KR" sz="1200" dirty="0"/>
              <a:t>Data Preprocessing</a:t>
            </a:r>
            <a:r>
              <a:rPr lang="ko-KR" altLang="en-US" sz="1200" dirty="0"/>
              <a:t>을 보완할 수 있었다</a:t>
            </a:r>
            <a:r>
              <a:rPr lang="en-US" altLang="ko-KR" sz="1200" dirty="0"/>
              <a:t>. </a:t>
            </a:r>
            <a:r>
              <a:rPr lang="ko-KR" altLang="en-US" sz="1200" dirty="0"/>
              <a:t>또</a:t>
            </a:r>
            <a:r>
              <a:rPr lang="en-US" altLang="ko-KR" sz="1200" dirty="0"/>
              <a:t>, Feature Engineering</a:t>
            </a:r>
            <a:r>
              <a:rPr lang="ko-KR" altLang="en-US" sz="1200" dirty="0"/>
              <a:t>을 하면서 차원 감소</a:t>
            </a:r>
            <a:r>
              <a:rPr lang="en-US" altLang="ko-KR" sz="1200" dirty="0"/>
              <a:t>, </a:t>
            </a:r>
            <a:r>
              <a:rPr lang="ko-KR" altLang="en-US" sz="1200" dirty="0"/>
              <a:t>특징 선택</a:t>
            </a:r>
            <a:r>
              <a:rPr lang="en-US" altLang="ko-KR" sz="1200" dirty="0"/>
              <a:t>, </a:t>
            </a:r>
            <a:r>
              <a:rPr lang="ko-KR" altLang="en-US" sz="1200" dirty="0"/>
              <a:t>특징 추출의 개념을 더 잘 이해할 수 있었고 각 모델 간의 </a:t>
            </a:r>
            <a:r>
              <a:rPr lang="en-US" altLang="ko-KR" sz="1200" dirty="0"/>
              <a:t>Roc Curve</a:t>
            </a:r>
            <a:r>
              <a:rPr lang="ko-KR" altLang="en-US" sz="1200" dirty="0"/>
              <a:t>를 그려보면서</a:t>
            </a:r>
            <a:r>
              <a:rPr lang="en-US" altLang="ko-KR" sz="1200" dirty="0"/>
              <a:t> </a:t>
            </a:r>
            <a:r>
              <a:rPr lang="ko-KR" altLang="en-US" sz="1200" dirty="0"/>
              <a:t>모델의 성능을 비교할 수 있었고 적합한 모델을 찾아가면서 다양한 모델의 특징들을 확인할 수 있었다</a:t>
            </a:r>
            <a:r>
              <a:rPr lang="en-US" altLang="ko-KR" sz="1200" dirty="0"/>
              <a:t>.</a:t>
            </a:r>
            <a:r>
              <a:rPr lang="ko-KR" altLang="en-US" sz="1200" dirty="0"/>
              <a:t> 기계학습으로 월드컵을 완벽히 </a:t>
            </a:r>
            <a:r>
              <a:rPr lang="ko-KR" altLang="en-US" sz="1200" dirty="0" err="1"/>
              <a:t>예측하는것은</a:t>
            </a:r>
            <a:r>
              <a:rPr lang="ko-KR" altLang="en-US" sz="1200" dirty="0"/>
              <a:t> 불가능하지만 조금 더 정확도를 높이기 위한 다양한 방법을 모색하여 추후 개선한다면 더 </a:t>
            </a:r>
            <a:r>
              <a:rPr lang="ko-KR" altLang="en-US" sz="1200" dirty="0" err="1"/>
              <a:t>의미있는</a:t>
            </a:r>
            <a:r>
              <a:rPr lang="ko-KR" altLang="en-US" sz="1200" dirty="0"/>
              <a:t> 결과를 만들 수 있을 것 같다</a:t>
            </a:r>
            <a:r>
              <a:rPr lang="en-US" altLang="ko-KR" sz="1200" dirty="0"/>
              <a:t>.</a:t>
            </a:r>
            <a:r>
              <a:rPr lang="ko-KR" altLang="en-US" sz="1200" dirty="0"/>
              <a:t> 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4FD8BBD-1DC5-6FDD-2137-5F2E70B0F685}"/>
              </a:ext>
            </a:extLst>
          </p:cNvPr>
          <p:cNvSpPr txBox="1"/>
          <p:nvPr/>
        </p:nvSpPr>
        <p:spPr>
          <a:xfrm>
            <a:off x="2822563" y="4329878"/>
            <a:ext cx="8171257" cy="116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“지능형 시스템 프로젝트를 진행 한 후 기계학습이 더욱 가깝게 느껴지는 것 같았다</a:t>
            </a:r>
            <a:r>
              <a:rPr lang="en-US" altLang="ko-KR" sz="1200" dirty="0"/>
              <a:t>. </a:t>
            </a:r>
            <a:r>
              <a:rPr lang="ko-KR" altLang="en-US" sz="1200" dirty="0"/>
              <a:t>그리고 수업을 진행하면서 여러가지 개념들을 배우고 이를 프로젝트로 수행해보면서 어떤 방식을 </a:t>
            </a:r>
            <a:r>
              <a:rPr lang="ko-KR" altLang="en-US" sz="1200" dirty="0" err="1"/>
              <a:t>써야하는지</a:t>
            </a:r>
            <a:r>
              <a:rPr lang="en-US" altLang="ko-KR" sz="1200" dirty="0"/>
              <a:t>, </a:t>
            </a:r>
            <a:r>
              <a:rPr lang="ko-KR" altLang="en-US" sz="1200" dirty="0"/>
              <a:t>어떤 상관관계가 있는지를 직접 실행해보면서 시행착오도 겪어보고</a:t>
            </a:r>
            <a:r>
              <a:rPr lang="en-US" altLang="ko-KR" sz="1200" dirty="0"/>
              <a:t>, </a:t>
            </a:r>
            <a:r>
              <a:rPr lang="ko-KR" altLang="en-US" sz="1200" dirty="0"/>
              <a:t>이해하는 시간을 가지게 되어 많은 도움을 가졌다</a:t>
            </a:r>
            <a:r>
              <a:rPr lang="en-US" altLang="ko-KR" sz="1200" dirty="0"/>
              <a:t>. </a:t>
            </a:r>
            <a:r>
              <a:rPr lang="ko-KR" altLang="en-US" sz="1200" dirty="0"/>
              <a:t>팀원과 함께 재밌는 경험을 하게 된 것 같아 뜻 깊고 좋은 시간을 가진 것 같다</a:t>
            </a:r>
            <a:r>
              <a:rPr lang="en-US" altLang="ko-KR" sz="1200" dirty="0"/>
              <a:t>.</a:t>
            </a:r>
            <a:r>
              <a:rPr lang="ko-KR" altLang="en-US" sz="1200" dirty="0"/>
              <a:t>”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5119D309-3E7E-BDFB-6DE6-B78D889FCA67}"/>
              </a:ext>
            </a:extLst>
          </p:cNvPr>
          <p:cNvCxnSpPr/>
          <p:nvPr/>
        </p:nvCxnSpPr>
        <p:spPr>
          <a:xfrm>
            <a:off x="1114096" y="4513127"/>
            <a:ext cx="996380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2F4D9133-B66A-2CFE-B384-0F6AA3726ECA}"/>
              </a:ext>
            </a:extLst>
          </p:cNvPr>
          <p:cNvCxnSpPr>
            <a:cxnSpLocks/>
          </p:cNvCxnSpPr>
          <p:nvPr/>
        </p:nvCxnSpPr>
        <p:spPr>
          <a:xfrm>
            <a:off x="0" y="986039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A8185D3-80E3-0713-0445-AF18175E6B3E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소감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9120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53C2ECA-E9A3-D7CD-67ED-04DE181F8DA2}"/>
              </a:ext>
            </a:extLst>
          </p:cNvPr>
          <p:cNvSpPr txBox="1"/>
          <p:nvPr/>
        </p:nvSpPr>
        <p:spPr>
          <a:xfrm>
            <a:off x="359530" y="2341202"/>
            <a:ext cx="115384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 Feature Selection: A Data Perspective.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Jundong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 Li,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Kewei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 Cheng,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Suhang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 Wang, Fred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Morstatter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, Robert P. Trevino,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Jiliang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 Tang, Huan Liu. 2016;arXiv:1601.07996.</a:t>
            </a:r>
          </a:p>
          <a:p>
            <a:pPr algn="l">
              <a:buFont typeface="+mj-lt"/>
              <a:buAutoNum type="arabicPeriod"/>
            </a:pPr>
            <a:endParaRPr lang="en-US" altLang="ko-KR" dirty="0">
              <a:solidFill>
                <a:srgbClr val="000000"/>
              </a:solidFill>
              <a:latin typeface="NanumGothic" pitchFamily="2" charset="-127"/>
              <a:ea typeface="NanumGothic" pitchFamily="2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2. Data Preprocessing and Intelligent Data Analysis. Wei-Min </a:t>
            </a:r>
            <a:r>
              <a:rPr lang="en-US" altLang="ko-KR" dirty="0" err="1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shen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, Richard Weber, </a:t>
            </a:r>
            <a:r>
              <a:rPr lang="en-US" altLang="ko-KR" dirty="0" err="1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Evangelos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Simoudis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. 1997. pp : 151~158.</a:t>
            </a:r>
          </a:p>
          <a:p>
            <a:pPr algn="l"/>
            <a:endParaRPr lang="en-US" altLang="ko-KR" dirty="0">
              <a:solidFill>
                <a:srgbClr val="000000"/>
              </a:solidFill>
              <a:latin typeface="NanumGothic" pitchFamily="2" charset="-127"/>
              <a:ea typeface="NanumGothic" pitchFamily="2" charset="-127"/>
            </a:endParaRP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3.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신경망 분석을 이용한 축구경기 승패 예측모형 개발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-2006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독일월드컵 대회를 중심으로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-.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anumGothic" pitchFamily="2" charset="-127"/>
                <a:ea typeface="NanumGothic" pitchFamily="2" charset="-127"/>
              </a:rPr>
              <a:t>김주학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,</a:t>
            </a:r>
            <a:r>
              <a:rPr lang="ko-KR" altLang="en-US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 박종성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이원희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, </a:t>
            </a:r>
            <a:r>
              <a:rPr lang="ko-KR" altLang="en-US" dirty="0" err="1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노갑택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.</a:t>
            </a:r>
            <a:r>
              <a:rPr lang="ko-KR" altLang="en-US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2007. pp : 54~64.</a:t>
            </a:r>
          </a:p>
          <a:p>
            <a:pPr algn="l"/>
            <a:endParaRPr lang="en-US" altLang="ko-KR" dirty="0">
              <a:solidFill>
                <a:srgbClr val="000000"/>
              </a:solidFill>
              <a:latin typeface="NanumGothic" pitchFamily="2" charset="-127"/>
              <a:ea typeface="NanumGothic" pitchFamily="2" charset="-127"/>
            </a:endParaRPr>
          </a:p>
          <a:p>
            <a:pPr algn="l"/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4. </a:t>
            </a:r>
            <a:r>
              <a:rPr lang="ko-KR" altLang="en-US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축구 월드컵대회의 경기기록 기반 경기결과 예측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. </a:t>
            </a:r>
            <a:r>
              <a:rPr lang="ko-KR" altLang="en-US" dirty="0" err="1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최형준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이윤수</a:t>
            </a:r>
            <a:r>
              <a:rPr lang="en-US" altLang="ko-KR" dirty="0">
                <a:solidFill>
                  <a:srgbClr val="000000"/>
                </a:solidFill>
                <a:latin typeface="NanumGothic" pitchFamily="2" charset="-127"/>
                <a:ea typeface="NanumGothic" pitchFamily="2" charset="-127"/>
              </a:rPr>
              <a:t>. 2019.02. pp : 1317~1325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F26B06-E62C-2409-336D-AD315BACBB8C}"/>
              </a:ext>
            </a:extLst>
          </p:cNvPr>
          <p:cNvSpPr txBox="1"/>
          <p:nvPr/>
        </p:nvSpPr>
        <p:spPr>
          <a:xfrm>
            <a:off x="1888571" y="278611"/>
            <a:ext cx="81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ko-KR" altLang="en-US" sz="2400" b="1" dirty="0">
                <a:solidFill>
                  <a:srgbClr val="333333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참고문헌</a:t>
            </a:r>
            <a:endParaRPr lang="en-US" altLang="ko-KR" sz="3400" b="1" dirty="0">
              <a:solidFill>
                <a:schemeClr val="tx1">
                  <a:lumMod val="75000"/>
                  <a:lumOff val="25000"/>
                </a:schemeClr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xmlns="" id="{B9FDF7B5-9729-18D8-255B-B6F32F790EF8}"/>
              </a:ext>
            </a:extLst>
          </p:cNvPr>
          <p:cNvCxnSpPr>
            <a:cxnSpLocks/>
          </p:cNvCxnSpPr>
          <p:nvPr/>
        </p:nvCxnSpPr>
        <p:spPr>
          <a:xfrm>
            <a:off x="0" y="944513"/>
            <a:ext cx="12257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73709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B4D3D850-2041-4B7C-AED9-54DA385B14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그림 8" descr="사람, 남자, 실외, 플레이어이(가) 표시된 사진&#10;&#10;자동 생성된 설명">
            <a:extLst>
              <a:ext uri="{FF2B5EF4-FFF2-40B4-BE49-F238E27FC236}">
                <a16:creationId xmlns:a16="http://schemas.microsoft.com/office/drawing/2014/main" xmlns="" id="{8C2CC277-FB03-310C-BBD0-C983A164CA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3489" r="-1" b="3229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6" name="그림 5" descr="잔디, 플레이어, 축구이(가) 표시된 사진&#10;&#10;자동 생성된 설명">
            <a:extLst>
              <a:ext uri="{FF2B5EF4-FFF2-40B4-BE49-F238E27FC236}">
                <a16:creationId xmlns:a16="http://schemas.microsoft.com/office/drawing/2014/main" xmlns="" id="{83709C52-E525-77AF-D99C-928CB014877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313" r="-2" b="-2"/>
          <a:stretch/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497CCB5-5FC2-473C-AFCC-2430CEF1DF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4409915" y="1742916"/>
            <a:ext cx="3372170" cy="33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904B3B2-D62B-9D1B-173A-BF6DD8C40FD4}"/>
              </a:ext>
            </a:extLst>
          </p:cNvPr>
          <p:cNvSpPr txBox="1"/>
          <p:nvPr/>
        </p:nvSpPr>
        <p:spPr>
          <a:xfrm>
            <a:off x="4286858" y="2869131"/>
            <a:ext cx="3618284" cy="134572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2000" kern="12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7</a:t>
            </a:r>
            <a:r>
              <a:rPr lang="ko-KR" altLang="en-US" sz="2000" kern="12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번 형의 선물</a:t>
            </a:r>
            <a:endParaRPr lang="en-US" altLang="ko-KR" sz="2000" kern="1200" dirty="0">
              <a:solidFill>
                <a:srgbClr val="080808"/>
              </a:solidFill>
              <a:latin typeface="HY동녘B" panose="02030600000101010101" pitchFamily="18" charset="-127"/>
              <a:ea typeface="HY동녘B" panose="02030600000101010101" pitchFamily="18" charset="-127"/>
              <a:cs typeface="+mj-cs"/>
            </a:endParaRPr>
          </a:p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2000" kern="1200" dirty="0">
              <a:solidFill>
                <a:srgbClr val="080808"/>
              </a:solidFill>
              <a:latin typeface="HY동녘B" panose="02030600000101010101" pitchFamily="18" charset="-127"/>
              <a:ea typeface="HY동녘B" panose="02030600000101010101" pitchFamily="18" charset="-127"/>
              <a:cs typeface="+mj-cs"/>
            </a:endParaRPr>
          </a:p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0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발표를 </a:t>
            </a:r>
            <a:r>
              <a:rPr lang="ko-KR" altLang="en-US" sz="2000" dirty="0" err="1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들어주신</a:t>
            </a:r>
            <a:r>
              <a:rPr lang="ko-KR" altLang="en-US" sz="20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 여러분들이 </a:t>
            </a:r>
            <a:r>
              <a:rPr lang="en-US" altLang="ko-KR" sz="20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G.O.A.T </a:t>
            </a:r>
            <a:r>
              <a:rPr lang="ko-KR" altLang="en-US" sz="20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입니다</a:t>
            </a:r>
            <a:r>
              <a:rPr lang="en-US" altLang="ko-KR" sz="20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.</a:t>
            </a:r>
            <a:endParaRPr lang="en-US" altLang="ko-KR" sz="2000" kern="1200" dirty="0">
              <a:solidFill>
                <a:srgbClr val="080808"/>
              </a:solidFill>
              <a:latin typeface="HY동녘B" panose="02030600000101010101" pitchFamily="18" charset="-127"/>
              <a:ea typeface="HY동녘B" panose="02030600000101010101" pitchFamily="18" charset="-127"/>
              <a:cs typeface="+mj-cs"/>
            </a:endParaRPr>
          </a:p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2000" kern="1200" dirty="0">
              <a:solidFill>
                <a:srgbClr val="080808"/>
              </a:solidFill>
              <a:latin typeface="HY동녘B" panose="02030600000101010101" pitchFamily="18" charset="-127"/>
              <a:ea typeface="HY동녘B" panose="02030600000101010101" pitchFamily="18" charset="-127"/>
              <a:cs typeface="+mj-cs"/>
            </a:endParaRPr>
          </a:p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000" kern="1200" dirty="0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유환인</a:t>
            </a:r>
            <a:endParaRPr lang="en-US" altLang="ko-KR" sz="2000" kern="1200" dirty="0">
              <a:solidFill>
                <a:srgbClr val="080808"/>
              </a:solidFill>
              <a:latin typeface="HY동녘B" panose="02030600000101010101" pitchFamily="18" charset="-127"/>
              <a:ea typeface="HY동녘B" panose="02030600000101010101" pitchFamily="18" charset="-127"/>
              <a:cs typeface="+mj-cs"/>
            </a:endParaRPr>
          </a:p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000" dirty="0" err="1">
                <a:solidFill>
                  <a:srgbClr val="080808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+mj-cs"/>
              </a:rPr>
              <a:t>이장연</a:t>
            </a:r>
            <a:endParaRPr lang="en-US" altLang="ko-KR" sz="2000" kern="1200" dirty="0">
              <a:solidFill>
                <a:srgbClr val="080808"/>
              </a:solidFill>
              <a:latin typeface="HY동녘B" panose="02030600000101010101" pitchFamily="18" charset="-127"/>
              <a:ea typeface="HY동녘B" panose="02030600000101010101" pitchFamily="18" charset="-127"/>
              <a:cs typeface="+mj-cs"/>
            </a:endParaRPr>
          </a:p>
        </p:txBody>
      </p:sp>
      <p:sp>
        <p:nvSpPr>
          <p:cNvPr id="12" name="Frame 18">
            <a:extLst>
              <a:ext uri="{FF2B5EF4-FFF2-40B4-BE49-F238E27FC236}">
                <a16:creationId xmlns:a16="http://schemas.microsoft.com/office/drawing/2014/main" xmlns="" id="{599C8C75-BFDF-44E7-A028-EEB5EDD588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3971277" y="1304278"/>
            <a:ext cx="4249446" cy="4249444"/>
          </a:xfrm>
          <a:prstGeom prst="frame">
            <a:avLst>
              <a:gd name="adj1" fmla="val 1195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8953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474</TotalTime>
  <Words>1780</Words>
  <Application>Microsoft Office PowerPoint</Application>
  <PresentationFormat>사용자 지정</PresentationFormat>
  <Paragraphs>255</Paragraphs>
  <Slides>35</Slides>
  <Notes>33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[학부생]유환인</dc:creator>
  <cp:lastModifiedBy>acorn</cp:lastModifiedBy>
  <cp:revision>176</cp:revision>
  <dcterms:created xsi:type="dcterms:W3CDTF">2022-12-06T08:55:43Z</dcterms:created>
  <dcterms:modified xsi:type="dcterms:W3CDTF">2023-12-05T07:47:19Z</dcterms:modified>
</cp:coreProperties>
</file>